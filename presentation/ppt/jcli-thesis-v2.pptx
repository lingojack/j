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7175"/>
            <a:ext cx="92897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本科毕业设计 · 2025</a:t>
            </a:r>
            <a:endParaRPr lang="en-US" sz="619" dirty="0"/>
          </a:p>
        </p:txBody>
      </p:sp>
      <p:sp>
        <p:nvSpPr>
          <p:cNvPr id="3" name="Text 1"/>
          <p:cNvSpPr/>
          <p:nvPr/>
        </p:nvSpPr>
        <p:spPr>
          <a:xfrm>
            <a:off x="228600" y="361429"/>
            <a:ext cx="457563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LLM Agent 的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228600" y="901452"/>
            <a:ext cx="311641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编程辅助工具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3299296" y="901452"/>
            <a:ext cx="260463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设计与实现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228600" y="1677219"/>
            <a:ext cx="375555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ChatBot 到 Agent：让 AI 真正参与软件工程全流程</a:t>
            </a:r>
            <a:endParaRPr lang="en-US" sz="1238" dirty="0"/>
          </a:p>
        </p:txBody>
      </p:sp>
      <p:sp>
        <p:nvSpPr>
          <p:cNvPr id="7" name="Shape 5"/>
          <p:cNvSpPr/>
          <p:nvPr/>
        </p:nvSpPr>
        <p:spPr>
          <a:xfrm>
            <a:off x="228600" y="2192238"/>
            <a:ext cx="8686800" cy="354285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228600" y="2226506"/>
            <a:ext cx="285750" cy="2857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614363" y="2199382"/>
            <a:ext cx="36384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温俊杰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57225" y="2392263"/>
            <a:ext cx="92964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答辩分享 · 约 30 min</a:t>
            </a:r>
            <a:endParaRPr lang="en-US" sz="731" dirty="0"/>
          </a:p>
        </p:txBody>
      </p:sp>
      <p:sp>
        <p:nvSpPr>
          <p:cNvPr id="11" name="Text 9"/>
          <p:cNvSpPr/>
          <p:nvPr/>
        </p:nvSpPr>
        <p:spPr>
          <a:xfrm>
            <a:off x="228600" y="4887776"/>
            <a:ext cx="141017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github.com/LingoJack/jcli</a:t>
            </a:r>
            <a:endParaRPr lang="en-US" sz="73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1743" y="394357"/>
            <a:ext cx="80362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先看看做出了什么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68229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150925" y="257175"/>
            <a:ext cx="32990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jcli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1435112" y="257175"/>
            <a:ext cx="161567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AI 终端工作站</a:t>
            </a:r>
            <a:endParaRPr lang="en-US" sz="1688" dirty="0"/>
          </a:p>
        </p:txBody>
      </p:sp>
      <p:sp>
        <p:nvSpPr>
          <p:cNvPr id="6" name="Shape 4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28600" y="178594"/>
            <a:ext cx="9078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Rust 写的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1090761" y="178594"/>
            <a:ext cx="80530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 Agent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228600" y="178594"/>
            <a:ext cx="4124466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，目标是把 AI + 开发一站式塞进命令行。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385763" y="821531"/>
            <a:ext cx="73542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工作台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5469" y="821531"/>
            <a:ext cx="221239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多模型、流式输出、工具调用、权限确认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5763" y="1087189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别名打开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8498" y="1087189"/>
            <a:ext cx="1756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1287" y="1101477"/>
            <a:ext cx="53037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 chrome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1538808" y="1087189"/>
            <a:ext cx="1756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11598" y="1101477"/>
            <a:ext cx="8939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 vscode ./src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85763" y="1352848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日报周报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8498" y="1352848"/>
            <a:ext cx="19352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TUI 编辑、自动周数管理、Git 同步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5763" y="1618506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待办备忘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8498" y="1618506"/>
            <a:ext cx="194551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Markdown checkbox · 长内容预览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5763" y="1884164"/>
            <a:ext cx="61152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脚本工作流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1570" y="1884164"/>
            <a:ext cx="127712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工程化的 Skill / Hook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" y="2314129"/>
            <a:ext cx="7016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三个开源仓库</a:t>
            </a:r>
            <a:endParaRPr lang="en-US" sz="844" dirty="0"/>
          </a:p>
        </p:txBody>
      </p:sp>
      <p:sp>
        <p:nvSpPr>
          <p:cNvPr id="25" name="Shape 23"/>
          <p:cNvSpPr/>
          <p:nvPr/>
        </p:nvSpPr>
        <p:spPr>
          <a:xfrm>
            <a:off x="228600" y="4269953"/>
            <a:ext cx="4171950" cy="602084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384253"/>
            <a:ext cx="1475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788" dirty="0"/>
          </a:p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      jcli · github.com/LingoJack/jcli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228600" y="4549229"/>
            <a:ext cx="23841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788" dirty="0"/>
          </a:p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      model_infrax · github.com/LingoJack/model_infrax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228600" y="4714205"/>
            <a:ext cx="19001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788" dirty="0"/>
          </a:p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      jcli github pages · lingojack.github.io/jcli</a:t>
            </a:r>
            <a:endParaRPr lang="en-US" sz="788" dirty="0"/>
          </a:p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    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474345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4743450" y="228600"/>
            <a:ext cx="4171950" cy="2607469"/>
          </a:xfrm>
          <a:prstGeom prst="rect">
            <a:avLst/>
          </a:prstGeom>
          <a:noFill/>
          <a:ln/>
        </p:spPr>
      </p:sp>
      <p:sp>
        <p:nvSpPr>
          <p:cNvPr id="31" name="Text 29"/>
          <p:cNvSpPr/>
          <p:nvPr/>
        </p:nvSpPr>
        <p:spPr>
          <a:xfrm>
            <a:off x="228600" y="4887776"/>
            <a:ext cx="151934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jcli · model_infrax · pages</a:t>
            </a:r>
            <a:endParaRPr lang="en-US" sz="73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20080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今天要讲的 6 个部分</a:t>
            </a:r>
            <a:endParaRPr lang="en-US" sz="1688" dirty="0"/>
          </a:p>
        </p:txBody>
      </p:sp>
      <p:sp>
        <p:nvSpPr>
          <p:cNvPr id="4" name="Shape 2"/>
          <p:cNvSpPr/>
          <p:nvPr/>
        </p:nvSpPr>
        <p:spPr>
          <a:xfrm>
            <a:off x="228600" y="171450"/>
            <a:ext cx="8686800" cy="3320281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71475" y="325710"/>
            <a:ext cx="18067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00113" y="307181"/>
            <a:ext cx="201672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背景与动机：从 ChatBot 到 Agent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8499611" y="335756"/>
            <a:ext cx="3186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~4min</a:t>
            </a:r>
            <a:endParaRPr lang="en-US" sz="731" dirty="0"/>
          </a:p>
        </p:txBody>
      </p:sp>
      <p:sp>
        <p:nvSpPr>
          <p:cNvPr id="8" name="Text 6"/>
          <p:cNvSpPr/>
          <p:nvPr/>
        </p:nvSpPr>
        <p:spPr>
          <a:xfrm>
            <a:off x="371475" y="895759"/>
            <a:ext cx="18067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00113" y="877230"/>
            <a:ext cx="196046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核心设计：上下文窗口治理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8499611" y="905805"/>
            <a:ext cx="3186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~6min</a:t>
            </a:r>
            <a:endParaRPr lang="en-US" sz="731" dirty="0"/>
          </a:p>
        </p:txBody>
      </p:sp>
      <p:sp>
        <p:nvSpPr>
          <p:cNvPr id="11" name="Text 9"/>
          <p:cNvSpPr/>
          <p:nvPr/>
        </p:nvSpPr>
        <p:spPr>
          <a:xfrm>
            <a:off x="371475" y="1465808"/>
            <a:ext cx="18067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00113" y="1447279"/>
            <a:ext cx="208492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工具体系：从基础到特化的渐进增强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8499611" y="1475854"/>
            <a:ext cx="3186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~8min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371475" y="2035857"/>
            <a:ext cx="18067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0113" y="2017328"/>
            <a:ext cx="136485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Agent 协作与健壮性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8499611" y="2045903"/>
            <a:ext cx="3186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~5min</a:t>
            </a:r>
            <a:endParaRPr lang="en-US" sz="731" dirty="0"/>
          </a:p>
        </p:txBody>
      </p:sp>
      <p:sp>
        <p:nvSpPr>
          <p:cNvPr id="17" name="Text 15"/>
          <p:cNvSpPr/>
          <p:nvPr/>
        </p:nvSpPr>
        <p:spPr>
          <a:xfrm>
            <a:off x="371475" y="2605906"/>
            <a:ext cx="18067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0113" y="2587377"/>
            <a:ext cx="159881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系统：工程化能力封装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8499611" y="2615952"/>
            <a:ext cx="3186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~4min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371475" y="3175955"/>
            <a:ext cx="18067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0113" y="3157426"/>
            <a:ext cx="68296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总结与展望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8499611" y="3186001"/>
            <a:ext cx="3186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~3min</a:t>
            </a:r>
            <a:endParaRPr lang="en-US" sz="73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0"/>
            <a:ext cx="229711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ChatBot 到 Agent：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514350" y="257175"/>
            <a:ext cx="21675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谁在承担上下文成本？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2338797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3957638" cy="2338797"/>
          </a:xfrm>
          <a:prstGeom prst="roundRect">
            <a:avLst>
              <a:gd name="adj" fmla="val 1203"/>
            </a:avLst>
          </a:prstGeom>
          <a:solidFill>
            <a:srgbClr val="FFFFFF"/>
          </a:solidFill>
          <a:ln w="12700">
            <a:solidFill>
              <a:srgbClr val="7A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344" y="371475"/>
            <a:ext cx="100889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 时代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621506" y="838609"/>
            <a:ext cx="20908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人手动收集代码、报错日志、配置信息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621506" y="1138647"/>
            <a:ext cx="11284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复制粘贴到对话窗口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621506" y="1438684"/>
            <a:ext cx="16349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给出建议，人手动修改代码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621506" y="1738722"/>
            <a:ext cx="4067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人承担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982489" y="1738722"/>
            <a:ext cx="6472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上下文收集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1584015" y="1738722"/>
            <a:ext cx="166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和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1704342" y="1738722"/>
            <a:ext cx="527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执行反馈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621506" y="2038759"/>
            <a:ext cx="20908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本质：人是物理世界和逻辑世界的桥梁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4451114" y="1168003"/>
            <a:ext cx="287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1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913" dirty="0"/>
          </a:p>
        </p:txBody>
      </p:sp>
      <p:sp>
        <p:nvSpPr>
          <p:cNvPr id="17" name="Shape 15"/>
          <p:cNvSpPr/>
          <p:nvPr/>
        </p:nvSpPr>
        <p:spPr>
          <a:xfrm>
            <a:off x="4957763" y="171450"/>
            <a:ext cx="3957638" cy="2338797"/>
          </a:xfrm>
          <a:prstGeom prst="roundRect">
            <a:avLst>
              <a:gd name="adj" fmla="val 1203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506" y="371475"/>
            <a:ext cx="83845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时代</a:t>
            </a:r>
            <a:endParaRPr lang="en-US" sz="1238" dirty="0"/>
          </a:p>
        </p:txBody>
      </p:sp>
      <p:sp>
        <p:nvSpPr>
          <p:cNvPr id="19" name="Text 17"/>
          <p:cNvSpPr/>
          <p:nvPr/>
        </p:nvSpPr>
        <p:spPr>
          <a:xfrm>
            <a:off x="5350669" y="838609"/>
            <a:ext cx="22138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通过工具主动读取代码、执行命令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5350669" y="1138647"/>
            <a:ext cx="14919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自动管理上下文窗口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5350669" y="1438684"/>
            <a:ext cx="20935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自主决策、自主执行、自主纠错</a:t>
            </a:r>
            <a:endParaRPr lang="en-US" sz="956" dirty="0"/>
          </a:p>
        </p:txBody>
      </p:sp>
      <p:sp>
        <p:nvSpPr>
          <p:cNvPr id="22" name="Text 20"/>
          <p:cNvSpPr/>
          <p:nvPr/>
        </p:nvSpPr>
        <p:spPr>
          <a:xfrm>
            <a:off x="5350669" y="1738722"/>
            <a:ext cx="649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承担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5954874" y="1738722"/>
            <a:ext cx="6472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上下文治理</a:t>
            </a:r>
            <a:endParaRPr lang="en-US" sz="956" dirty="0"/>
          </a:p>
        </p:txBody>
      </p:sp>
      <p:sp>
        <p:nvSpPr>
          <p:cNvPr id="24" name="Text 22"/>
          <p:cNvSpPr/>
          <p:nvPr/>
        </p:nvSpPr>
        <p:spPr>
          <a:xfrm>
            <a:off x="6556400" y="1738722"/>
            <a:ext cx="166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和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6676727" y="1738722"/>
            <a:ext cx="527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5350669" y="2038759"/>
            <a:ext cx="20935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本质：Agent 成为桥梁，人被抽离出来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40" y="394357"/>
            <a:ext cx="9429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1 帧 / 共 6 帧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492523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的心脏：Thought → Action → Observation</a:t>
            </a:r>
            <a:endParaRPr lang="en-US" sz="1688" dirty="0"/>
          </a:p>
        </p:txBody>
      </p:sp>
      <p:sp>
        <p:nvSpPr>
          <p:cNvPr id="4" name="Shape 2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22860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228600" y="178594"/>
            <a:ext cx="244021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不是一次推理出全部答案。它</a:t>
            </a:r>
            <a:endParaRPr lang="en-US" sz="1181" dirty="0"/>
          </a:p>
        </p:txBody>
      </p:sp>
      <p:sp>
        <p:nvSpPr>
          <p:cNvPr id="7" name="Text 5"/>
          <p:cNvSpPr/>
          <p:nvPr/>
        </p:nvSpPr>
        <p:spPr>
          <a:xfrm>
            <a:off x="228600" y="178594"/>
            <a:ext cx="4077920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逐轮思考、调工具、读结果、再思考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973001" y="403622"/>
            <a:ext cx="19462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385763" y="821531"/>
            <a:ext cx="48528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Thought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5326" y="821531"/>
            <a:ext cx="153351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读当前上下文，决定下一步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763" y="1087189"/>
            <a:ext cx="38839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8439" y="1087189"/>
            <a:ext cx="201147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输出符合 JSON Schema 的 tool call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5763" y="1352848"/>
            <a:ext cx="68921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9258" y="1352848"/>
            <a:ext cx="221239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运行时执行工具，把结果序列化回灌窗口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5763" y="1618506"/>
            <a:ext cx="43204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2083" y="1618506"/>
            <a:ext cx="17730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窗口变大，进入下一轮 Thought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4599905"/>
            <a:ext cx="4171950" cy="272132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714205"/>
            <a:ext cx="37682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接下来六页用一个真实任务演示这个循环 —— 同时观察上下文窗口是怎么被填满的。</a:t>
            </a:r>
            <a:endParaRPr lang="en-US" sz="788" dirty="0"/>
          </a:p>
        </p:txBody>
      </p:sp>
      <p:sp>
        <p:nvSpPr>
          <p:cNvPr id="19" name="Shape 17"/>
          <p:cNvSpPr/>
          <p:nvPr/>
        </p:nvSpPr>
        <p:spPr>
          <a:xfrm>
            <a:off x="474345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4743450" y="171450"/>
            <a:ext cx="4171950" cy="3305101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9181" y="307181"/>
            <a:ext cx="3900488" cy="3033638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6585254" y="575776"/>
            <a:ext cx="53406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Thought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7920266" y="1713391"/>
            <a:ext cx="46429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6445727" y="2851005"/>
            <a:ext cx="81311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Observation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5320005" y="1713391"/>
            <a:ext cx="46429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6449913" y="1662671"/>
            <a:ext cx="8047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 grows</a:t>
            </a:r>
            <a:endParaRPr lang="en-US" sz="563" dirty="0"/>
          </a:p>
        </p:txBody>
      </p:sp>
      <p:sp>
        <p:nvSpPr>
          <p:cNvPr id="27" name="Text 25"/>
          <p:cNvSpPr/>
          <p:nvPr/>
        </p:nvSpPr>
        <p:spPr>
          <a:xfrm>
            <a:off x="6513147" y="1825188"/>
            <a:ext cx="6782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each round</a:t>
            </a:r>
            <a:endParaRPr lang="en-US" sz="563" dirty="0"/>
          </a:p>
        </p:txBody>
      </p:sp>
      <p:sp>
        <p:nvSpPr>
          <p:cNvPr id="28" name="Text 26"/>
          <p:cNvSpPr/>
          <p:nvPr/>
        </p:nvSpPr>
        <p:spPr>
          <a:xfrm>
            <a:off x="228600" y="4887776"/>
            <a:ext cx="7007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#react #loop</a:t>
            </a:r>
            <a:endParaRPr lang="en-US" sz="73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40" y="394357"/>
            <a:ext cx="9429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2 帧 / 共 6 帧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322837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第一帧：用户发起一个开放性问题</a:t>
            </a:r>
            <a:endParaRPr lang="en-US" sz="1688" dirty="0"/>
          </a:p>
        </p:txBody>
      </p:sp>
      <p:sp>
        <p:nvSpPr>
          <p:cNvPr id="4" name="Shape 2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228600" y="171450"/>
            <a:ext cx="3300971" cy="48006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228600" y="178594"/>
            <a:ext cx="79012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用户的需求</a:t>
            </a:r>
            <a:endParaRPr lang="en-US" sz="1181" dirty="0"/>
          </a:p>
        </p:txBody>
      </p:sp>
      <p:sp>
        <p:nvSpPr>
          <p:cNvPr id="7" name="Text 5"/>
          <p:cNvSpPr/>
          <p:nvPr/>
        </p:nvSpPr>
        <p:spPr>
          <a:xfrm>
            <a:off x="973001" y="178594"/>
            <a:ext cx="93902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不是机器指令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1866305" y="178594"/>
            <a:ext cx="139812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。Agent 需要先把它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3218706" y="178594"/>
            <a:ext cx="3435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翻译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228600" y="403622"/>
            <a:ext cx="153452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成可执行的工具调用。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385763" y="821531"/>
            <a:ext cx="134655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"总结" → 需要看目录结构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5763" y="1087189"/>
            <a:ext cx="213861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"可优化的模块划分" → 需要读关键源文件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5763" y="1352848"/>
            <a:ext cx="185855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用户没说去哪儿看，Agent 自己定位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4599905"/>
            <a:ext cx="3300971" cy="272132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714205"/>
            <a:ext cx="23441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此时窗口里只有：System prompt + 用户这一句话。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3872471" y="171450"/>
            <a:ext cx="5042929" cy="48006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3872471" y="171450"/>
            <a:ext cx="5042929" cy="4190702"/>
          </a:xfrm>
          <a:prstGeom prst="roundRect">
            <a:avLst>
              <a:gd name="adj" fmla="val 671"/>
            </a:avLst>
          </a:prstGeom>
          <a:solidFill>
            <a:srgbClr val="FBFBFB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79614" y="178594"/>
            <a:ext cx="5028642" cy="267109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3979627" y="250031"/>
            <a:ext cx="13471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jcli chat · session #42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8412100" y="250031"/>
            <a:ext cx="4418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~/dev/j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3879614" y="445703"/>
            <a:ext cx="5028642" cy="3909306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3993914" y="545716"/>
            <a:ext cx="4800042" cy="524954"/>
          </a:xfrm>
          <a:prstGeom prst="roundRect">
            <a:avLst>
              <a:gd name="adj" fmla="val 5360"/>
            </a:avLst>
          </a:prstGeom>
          <a:solidFill>
            <a:srgbClr val="FBFDF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08214" y="638584"/>
            <a:ext cx="25947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8469250" y="652872"/>
            <a:ext cx="20612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@me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4108214" y="836377"/>
            <a:ext cx="328049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总结一下 src/command/chat 目录的结构，以及可以优化的模块划分。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3872471" y="444073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8814718" y="4440734"/>
            <a:ext cx="1464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6%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4295961" y="4480694"/>
            <a:ext cx="4447319" cy="42863"/>
          </a:xfrm>
          <a:prstGeom prst="rect">
            <a:avLst/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3105" y="4487838"/>
            <a:ext cx="265881" cy="2857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Shape 28"/>
          <p:cNvSpPr/>
          <p:nvPr/>
        </p:nvSpPr>
        <p:spPr>
          <a:xfrm>
            <a:off x="3872471" y="4670673"/>
            <a:ext cx="5042929" cy="301377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72471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state: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310025" y="480640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highlight>
                  <a:srgbClr val="1E3A8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Thought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876391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5392527" y="4806404"/>
            <a:ext cx="59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Observation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6160145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228600" y="4887776"/>
            <a:ext cx="108279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#react #user-intent</a:t>
            </a:r>
            <a:endParaRPr lang="en-US" sz="73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40" y="394357"/>
            <a:ext cx="9429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3 帧 / 共 6 帧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36728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第二帧：Agent 思考后调出第一个工具</a:t>
            </a:r>
            <a:endParaRPr lang="en-US" sz="1688" dirty="0"/>
          </a:p>
        </p:txBody>
      </p:sp>
      <p:sp>
        <p:nvSpPr>
          <p:cNvPr id="4" name="Shape 2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228600" y="171450"/>
            <a:ext cx="3300971" cy="48006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228600" y="178594"/>
            <a:ext cx="65372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先</a:t>
            </a:r>
            <a:endParaRPr lang="en-US" sz="1181" dirty="0"/>
          </a:p>
        </p:txBody>
      </p:sp>
      <p:sp>
        <p:nvSpPr>
          <p:cNvPr id="7" name="Text 5"/>
          <p:cNvSpPr/>
          <p:nvPr/>
        </p:nvSpPr>
        <p:spPr>
          <a:xfrm>
            <a:off x="836600" y="178594"/>
            <a:ext cx="49242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列目录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228600" y="178594"/>
            <a:ext cx="3282397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看全貌 —— 这是面对未知项目最常见的第一步。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385763" y="821531"/>
            <a:ext cx="53529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选择工具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8195" y="835819"/>
            <a:ext cx="28804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203387" y="821531"/>
            <a:ext cx="95107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，因为要枚举文件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5763" y="1087189"/>
            <a:ext cx="230381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参数符合 JSON Schema，运行时能直接解析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5763" y="1352848"/>
            <a:ext cx="1958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8755" y="1367135"/>
            <a:ext cx="34866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ls -F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924558" y="1352848"/>
            <a:ext cx="87484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区分文件与目录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4434929"/>
            <a:ext cx="3300971" cy="437108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4549229"/>
            <a:ext cx="3160841" cy="307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注意：Agent 的"想法"也被写进上下文窗口 —— 它是后续轮次的决策依据。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3872471" y="171450"/>
            <a:ext cx="5042929" cy="480060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3872471" y="171450"/>
            <a:ext cx="5042929" cy="4190702"/>
          </a:xfrm>
          <a:prstGeom prst="roundRect">
            <a:avLst>
              <a:gd name="adj" fmla="val 671"/>
            </a:avLst>
          </a:prstGeom>
          <a:solidFill>
            <a:srgbClr val="FBFBFB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79614" y="178594"/>
            <a:ext cx="5028642" cy="267109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979627" y="250031"/>
            <a:ext cx="13471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jcli chat · session #42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8412100" y="250031"/>
            <a:ext cx="4418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~/dev/j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>
            <a:off x="3879614" y="445703"/>
            <a:ext cx="5028642" cy="3909306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3993914" y="545716"/>
            <a:ext cx="4800042" cy="496379"/>
          </a:xfrm>
          <a:prstGeom prst="roundRect">
            <a:avLst>
              <a:gd name="adj" fmla="val 5668"/>
            </a:avLst>
          </a:prstGeom>
          <a:solidFill>
            <a:srgbClr val="FBFDFB">
              <a:alpha val="55000"/>
            </a:srgbClr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08214" y="638584"/>
            <a:ext cx="25947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4108214" y="807802"/>
            <a:ext cx="211294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总结一下 src/command/chat 目录的结构……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3993914" y="1127820"/>
            <a:ext cx="4800042" cy="524954"/>
          </a:xfrm>
          <a:prstGeom prst="roundRect">
            <a:avLst>
              <a:gd name="adj" fmla="val 5360"/>
            </a:avLst>
          </a:prstGeom>
          <a:solidFill>
            <a:srgbClr val="FBFC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08214" y="1220688"/>
            <a:ext cx="31294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</a:t>
            </a:r>
            <a:endParaRPr lang="en-US" sz="619" dirty="0"/>
          </a:p>
        </p:txBody>
      </p:sp>
      <p:sp>
        <p:nvSpPr>
          <p:cNvPr id="29" name="Text 27"/>
          <p:cNvSpPr/>
          <p:nvPr/>
        </p:nvSpPr>
        <p:spPr>
          <a:xfrm>
            <a:off x="8255608" y="1234976"/>
            <a:ext cx="41976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thought</a:t>
            </a:r>
            <a:endParaRPr lang="en-US" sz="619" dirty="0"/>
          </a:p>
        </p:txBody>
      </p:sp>
      <p:sp>
        <p:nvSpPr>
          <p:cNvPr id="30" name="Text 28"/>
          <p:cNvSpPr/>
          <p:nvPr/>
        </p:nvSpPr>
        <p:spPr>
          <a:xfrm>
            <a:off x="4108214" y="1418481"/>
            <a:ext cx="243519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用户要总结目录结构，先列出 chat/ 下的文件分布。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3993914" y="1738499"/>
            <a:ext cx="4800042" cy="652090"/>
          </a:xfrm>
          <a:prstGeom prst="roundRect">
            <a:avLst>
              <a:gd name="adj" fmla="val 4315"/>
            </a:avLst>
          </a:prstGeom>
          <a:solidFill>
            <a:srgbClr val="FDFCF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08214" y="1831367"/>
            <a:ext cx="5266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CALL</a:t>
            </a:r>
            <a:endParaRPr lang="en-US" sz="619" dirty="0"/>
          </a:p>
        </p:txBody>
      </p:sp>
      <p:sp>
        <p:nvSpPr>
          <p:cNvPr id="33" name="Text 31"/>
          <p:cNvSpPr/>
          <p:nvPr/>
        </p:nvSpPr>
        <p:spPr>
          <a:xfrm>
            <a:off x="8415896" y="1845655"/>
            <a:ext cx="25947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</a:t>
            </a:r>
            <a:endParaRPr lang="en-US" sz="619" dirty="0"/>
          </a:p>
        </p:txBody>
      </p:sp>
      <p:sp>
        <p:nvSpPr>
          <p:cNvPr id="34" name="Text 32"/>
          <p:cNvSpPr/>
          <p:nvPr/>
        </p:nvSpPr>
        <p:spPr>
          <a:xfrm>
            <a:off x="4108214" y="2022016"/>
            <a:ext cx="42779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4490293" y="2022016"/>
            <a:ext cx="1548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4599459" y="2022016"/>
            <a:ext cx="124654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ls -F src/command/chat</a:t>
            </a:r>
            <a:endParaRPr lang="en-US" sz="731" dirty="0"/>
          </a:p>
        </p:txBody>
      </p:sp>
      <p:sp>
        <p:nvSpPr>
          <p:cNvPr id="37" name="Text 35"/>
          <p:cNvSpPr/>
          <p:nvPr/>
        </p:nvSpPr>
        <p:spPr>
          <a:xfrm>
            <a:off x="4108214" y="2170584"/>
            <a:ext cx="6461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4708624" y="2170584"/>
            <a:ext cx="1548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4817790" y="2170584"/>
            <a:ext cx="1355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chat module entries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3872471" y="444073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8814718" y="4440734"/>
            <a:ext cx="1464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9%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4295961" y="4480694"/>
            <a:ext cx="4447319" cy="42863"/>
          </a:xfrm>
          <a:prstGeom prst="rect">
            <a:avLst/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03105" y="4487838"/>
            <a:ext cx="398934" cy="2857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4" name="Shape 42"/>
          <p:cNvSpPr/>
          <p:nvPr/>
        </p:nvSpPr>
        <p:spPr>
          <a:xfrm>
            <a:off x="3872471" y="4670673"/>
            <a:ext cx="5042929" cy="301377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72471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state: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4310025" y="480640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Thought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4876391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highlight>
                  <a:srgbClr val="1E3A8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5392527" y="4806404"/>
            <a:ext cx="59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Observation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160145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228600" y="4887776"/>
            <a:ext cx="7007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#react #bash</a:t>
            </a:r>
            <a:endParaRPr lang="en-US" sz="73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40" y="394357"/>
            <a:ext cx="9429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4 帧 / 共 6 帧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357897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第三帧：运行时执行 → 结果回灌窗口</a:t>
            </a:r>
            <a:endParaRPr lang="en-US" sz="1688" dirty="0"/>
          </a:p>
        </p:txBody>
      </p:sp>
      <p:sp>
        <p:nvSpPr>
          <p:cNvPr id="4" name="Shape 2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228600" y="171450"/>
            <a:ext cx="3300971" cy="48006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228600" y="178594"/>
            <a:ext cx="49242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</a:t>
            </a:r>
            <a:endParaRPr lang="en-US" sz="1181" dirty="0"/>
          </a:p>
        </p:txBody>
      </p:sp>
      <p:sp>
        <p:nvSpPr>
          <p:cNvPr id="7" name="Text 5"/>
          <p:cNvSpPr/>
          <p:nvPr/>
        </p:nvSpPr>
        <p:spPr>
          <a:xfrm>
            <a:off x="675308" y="178594"/>
            <a:ext cx="135749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在真实 shell 里执行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228600" y="178594"/>
            <a:ext cx="3199016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tool call，把 stdout 序列化为 tool-result 消息，写回上下文。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385763" y="821531"/>
            <a:ext cx="155271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个条目，足够建立粗略地图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5763" y="1087189"/>
            <a:ext cx="17453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在下一轮能看见这些文件名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763" y="1352848"/>
            <a:ext cx="42221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结果以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2260" y="1352848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文本形式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14996" y="1352848"/>
            <a:ext cx="87484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永久落在窗口里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4599905"/>
            <a:ext cx="3300971" cy="272132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714205"/>
            <a:ext cx="15759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 ReAct 的关键：tool 输出是会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1758814" y="4714205"/>
            <a:ext cx="734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长期占用 token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2447181" y="4714205"/>
            <a:ext cx="9677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的，不是临时变量。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3872471" y="171450"/>
            <a:ext cx="5042929" cy="480060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3872471" y="171450"/>
            <a:ext cx="5042929" cy="4190702"/>
          </a:xfrm>
          <a:prstGeom prst="roundRect">
            <a:avLst>
              <a:gd name="adj" fmla="val 671"/>
            </a:avLst>
          </a:prstGeom>
          <a:solidFill>
            <a:srgbClr val="FBFBFB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79614" y="178594"/>
            <a:ext cx="5028642" cy="267109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979627" y="250031"/>
            <a:ext cx="13471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jcli chat · session #42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8412100" y="250031"/>
            <a:ext cx="4418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~/dev/j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>
            <a:off x="3879614" y="445703"/>
            <a:ext cx="5028642" cy="3909306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3993914" y="545716"/>
            <a:ext cx="4800042" cy="524954"/>
          </a:xfrm>
          <a:prstGeom prst="roundRect">
            <a:avLst>
              <a:gd name="adj" fmla="val 5360"/>
            </a:avLst>
          </a:prstGeom>
          <a:solidFill>
            <a:srgbClr val="FBFCFF">
              <a:alpha val="55000"/>
            </a:srgbClr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08214" y="638584"/>
            <a:ext cx="31294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8255608" y="652872"/>
            <a:ext cx="41976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thought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4108214" y="836377"/>
            <a:ext cx="243519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用户要总结目录结构，先列出 chat/ 下的文件分布。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3993914" y="1156395"/>
            <a:ext cx="4800042" cy="503523"/>
          </a:xfrm>
          <a:prstGeom prst="roundRect">
            <a:avLst>
              <a:gd name="adj" fmla="val 5588"/>
            </a:avLst>
          </a:prstGeom>
          <a:solidFill>
            <a:srgbClr val="FDFCF8">
              <a:alpha val="55000"/>
            </a:srgbClr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08214" y="1249263"/>
            <a:ext cx="5266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CALL</a:t>
            </a:r>
            <a:endParaRPr lang="en-US" sz="619" dirty="0"/>
          </a:p>
        </p:txBody>
      </p:sp>
      <p:sp>
        <p:nvSpPr>
          <p:cNvPr id="30" name="Text 28"/>
          <p:cNvSpPr/>
          <p:nvPr/>
        </p:nvSpPr>
        <p:spPr>
          <a:xfrm>
            <a:off x="8415896" y="1263551"/>
            <a:ext cx="25947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4108214" y="1439912"/>
            <a:ext cx="42779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4490293" y="1439912"/>
            <a:ext cx="1548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4599459" y="1439912"/>
            <a:ext cx="124654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ls -F src/command/chat</a:t>
            </a:r>
            <a:endParaRPr lang="en-US" sz="731" dirty="0"/>
          </a:p>
        </p:txBody>
      </p:sp>
      <p:sp>
        <p:nvSpPr>
          <p:cNvPr id="34" name="Shape 32"/>
          <p:cNvSpPr/>
          <p:nvPr/>
        </p:nvSpPr>
        <p:spPr>
          <a:xfrm>
            <a:off x="3993914" y="1745642"/>
            <a:ext cx="4800042" cy="2137767"/>
          </a:xfrm>
          <a:prstGeom prst="roundRect">
            <a:avLst>
              <a:gd name="adj" fmla="val 1316"/>
            </a:avLst>
          </a:prstGeom>
          <a:solidFill>
            <a:srgbClr val="FAFAF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08214" y="1838511"/>
            <a:ext cx="63351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RESULT</a:t>
            </a:r>
            <a:endParaRPr lang="en-US" sz="619" dirty="0"/>
          </a:p>
        </p:txBody>
      </p:sp>
      <p:sp>
        <p:nvSpPr>
          <p:cNvPr id="36" name="Text 34"/>
          <p:cNvSpPr/>
          <p:nvPr/>
        </p:nvSpPr>
        <p:spPr>
          <a:xfrm>
            <a:off x="8308963" y="1852799"/>
            <a:ext cx="36640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stdout</a:t>
            </a:r>
            <a:endParaRPr lang="en-US" sz="619" dirty="0"/>
          </a:p>
        </p:txBody>
      </p:sp>
      <p:sp>
        <p:nvSpPr>
          <p:cNvPr id="37" name="Text 35"/>
          <p:cNvSpPr/>
          <p:nvPr/>
        </p:nvSpPr>
        <p:spPr>
          <a:xfrm>
            <a:off x="4108214" y="2029160"/>
            <a:ext cx="1737673" cy="175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agent.rs        handler/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api.rs          input_thread.rs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app.rs          markdown/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archive.rs      mod.rs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autocomplete.rs permission.rs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compact.rs      render_cache.rs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constants.rs    skill.rs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hook.rs         storage.rs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theme.rs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tools/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ui/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ui_helpers.rs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3872471" y="444073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8764488" y="4440734"/>
            <a:ext cx="196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14%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4295961" y="4480694"/>
            <a:ext cx="4397090" cy="42863"/>
          </a:xfrm>
          <a:prstGeom prst="rect">
            <a:avLst/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03105" y="4487838"/>
            <a:ext cx="613581" cy="2857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2" name="Shape 40"/>
          <p:cNvSpPr/>
          <p:nvPr/>
        </p:nvSpPr>
        <p:spPr>
          <a:xfrm>
            <a:off x="3872471" y="4670673"/>
            <a:ext cx="5042929" cy="301377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72471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state: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4310025" y="480640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Thought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876391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5392527" y="4806404"/>
            <a:ext cx="59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highlight>
                  <a:srgbClr val="1E3A8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Observation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6160145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228600" y="4887776"/>
            <a:ext cx="108279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#react #tool-result</a:t>
            </a:r>
            <a:endParaRPr lang="en-US" sz="73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40" y="394357"/>
            <a:ext cx="9429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5 帧 / 共 6 帧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416208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第四帧：进入下一轮 —— Read 关键源文件</a:t>
            </a:r>
            <a:endParaRPr lang="en-US" sz="1688" dirty="0"/>
          </a:p>
        </p:txBody>
      </p:sp>
      <p:sp>
        <p:nvSpPr>
          <p:cNvPr id="4" name="Shape 2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228600" y="171450"/>
            <a:ext cx="3300971" cy="48006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228600" y="178594"/>
            <a:ext cx="154702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看完目录，决定</a:t>
            </a:r>
            <a:endParaRPr lang="en-US" sz="1181" dirty="0"/>
          </a:p>
        </p:txBody>
      </p:sp>
      <p:sp>
        <p:nvSpPr>
          <p:cNvPr id="7" name="Text 5"/>
          <p:cNvSpPr/>
          <p:nvPr/>
        </p:nvSpPr>
        <p:spPr>
          <a:xfrm>
            <a:off x="1729904" y="178594"/>
            <a:ext cx="82807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深入 app.rs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228600" y="178594"/>
            <a:ext cx="3320348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—— 它是名字最像入口的文件。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385763" y="821531"/>
            <a:ext cx="265318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 Read 而非 Bash cat —— 结构化输出、自动行号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5763" y="1087189"/>
            <a:ext cx="115333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offset/limit 控量，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93379" y="1087189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不读全文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5763" y="1352848"/>
            <a:ext cx="185632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结果会很长，是窗口压力的主要来源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4599905"/>
            <a:ext cx="3300971" cy="272132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4714205"/>
            <a:ext cx="2645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Read 一次大约带回 60 行源码（800-1500 tokens）。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3872471" y="171450"/>
            <a:ext cx="5042929" cy="4800600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3872471" y="171450"/>
            <a:ext cx="5042929" cy="4190702"/>
          </a:xfrm>
          <a:prstGeom prst="roundRect">
            <a:avLst>
              <a:gd name="adj" fmla="val 671"/>
            </a:avLst>
          </a:prstGeom>
          <a:solidFill>
            <a:srgbClr val="FBFBFB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79614" y="178594"/>
            <a:ext cx="5028642" cy="267109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3979627" y="250031"/>
            <a:ext cx="13471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jcli chat · session #42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8412100" y="250031"/>
            <a:ext cx="4418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~/dev/j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3879614" y="445703"/>
            <a:ext cx="5028642" cy="3909306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3993914" y="545716"/>
            <a:ext cx="4800042" cy="474948"/>
          </a:xfrm>
          <a:prstGeom prst="roundRect">
            <a:avLst>
              <a:gd name="adj" fmla="val 5924"/>
            </a:avLst>
          </a:prstGeom>
          <a:solidFill>
            <a:srgbClr val="FAFAFA">
              <a:alpha val="55000"/>
            </a:srgbClr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08214" y="638584"/>
            <a:ext cx="63351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RESULT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4108214" y="800658"/>
            <a:ext cx="233808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agent.rs  app.rs  compact.rs  hook.rs  ...</a:t>
            </a:r>
            <a:endParaRPr lang="en-US" sz="731" dirty="0"/>
          </a:p>
        </p:txBody>
      </p:sp>
      <p:sp>
        <p:nvSpPr>
          <p:cNvPr id="24" name="Shape 22"/>
          <p:cNvSpPr/>
          <p:nvPr/>
        </p:nvSpPr>
        <p:spPr>
          <a:xfrm>
            <a:off x="3993914" y="1106388"/>
            <a:ext cx="4800042" cy="524954"/>
          </a:xfrm>
          <a:prstGeom prst="roundRect">
            <a:avLst>
              <a:gd name="adj" fmla="val 5360"/>
            </a:avLst>
          </a:prstGeom>
          <a:solidFill>
            <a:srgbClr val="FBFC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08214" y="1199257"/>
            <a:ext cx="31294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8255608" y="1213545"/>
            <a:ext cx="41976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thought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4108214" y="1397050"/>
            <a:ext cx="251064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app.rs 看起来是顶层入口，先读它的 struct 定义。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3993914" y="1717067"/>
            <a:ext cx="4800042" cy="652090"/>
          </a:xfrm>
          <a:prstGeom prst="roundRect">
            <a:avLst>
              <a:gd name="adj" fmla="val 4315"/>
            </a:avLst>
          </a:prstGeom>
          <a:solidFill>
            <a:srgbClr val="FDFCF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08214" y="1809936"/>
            <a:ext cx="5266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CALL</a:t>
            </a:r>
            <a:endParaRPr lang="en-US" sz="619" dirty="0"/>
          </a:p>
        </p:txBody>
      </p:sp>
      <p:sp>
        <p:nvSpPr>
          <p:cNvPr id="30" name="Text 28"/>
          <p:cNvSpPr/>
          <p:nvPr/>
        </p:nvSpPr>
        <p:spPr>
          <a:xfrm>
            <a:off x="8415896" y="1824224"/>
            <a:ext cx="25947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4108214" y="2000585"/>
            <a:ext cx="53696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file_path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4599459" y="2000585"/>
            <a:ext cx="1548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4708624" y="2000585"/>
            <a:ext cx="130112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src/command/chat/app.rs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4108214" y="2149153"/>
            <a:ext cx="3186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4381128" y="2149153"/>
            <a:ext cx="1548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4490293" y="2149153"/>
            <a:ext cx="1548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3993914" y="2454883"/>
            <a:ext cx="4800042" cy="1692064"/>
          </a:xfrm>
          <a:prstGeom prst="roundRect">
            <a:avLst>
              <a:gd name="adj" fmla="val 1663"/>
            </a:avLst>
          </a:prstGeom>
          <a:solidFill>
            <a:srgbClr val="FAFAF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08214" y="2547751"/>
            <a:ext cx="63351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RESULT</a:t>
            </a:r>
            <a:endParaRPr lang="en-US" sz="619" dirty="0"/>
          </a:p>
        </p:txBody>
      </p:sp>
      <p:sp>
        <p:nvSpPr>
          <p:cNvPr id="39" name="Text 37"/>
          <p:cNvSpPr/>
          <p:nvPr/>
        </p:nvSpPr>
        <p:spPr>
          <a:xfrm>
            <a:off x="8202141" y="2562039"/>
            <a:ext cx="47322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lines</a:t>
            </a:r>
            <a:endParaRPr lang="en-US" sz="619" dirty="0"/>
          </a:p>
        </p:txBody>
      </p:sp>
      <p:sp>
        <p:nvSpPr>
          <p:cNvPr id="40" name="Text 38"/>
          <p:cNvSpPr/>
          <p:nvPr/>
        </p:nvSpPr>
        <p:spPr>
          <a:xfrm>
            <a:off x="4108214" y="2738400"/>
            <a:ext cx="2392665" cy="130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 struct ChatApp {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pub ui: UIState,           // 55 fields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pub state: ChatState,      // 7 fields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pub tool_executor: ToolExecutor,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pub agent: Option&lt;AgentHandle&gt;,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pub tool_registry: Arc&lt;ToolRegistry&gt;,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pub jcli_config: Arc&lt;JcliConfig&gt;,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...</a:t>
            </a:r>
            <a:endParaRPr lang="en-US" sz="731" dirty="0"/>
          </a:p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3872471" y="444073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8764488" y="4440734"/>
            <a:ext cx="196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24%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4295961" y="4480694"/>
            <a:ext cx="4397090" cy="42863"/>
          </a:xfrm>
          <a:prstGeom prst="rect">
            <a:avLst/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03105" y="4487838"/>
            <a:ext cx="1051806" cy="2857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5" name="Shape 43"/>
          <p:cNvSpPr/>
          <p:nvPr/>
        </p:nvSpPr>
        <p:spPr>
          <a:xfrm>
            <a:off x="3872471" y="4670673"/>
            <a:ext cx="5042929" cy="301377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72471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state: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4310025" y="480640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Thought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4876391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5392527" y="4806404"/>
            <a:ext cx="59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Observation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160145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highlight>
                  <a:srgbClr val="1E3A8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228600" y="4887776"/>
            <a:ext cx="97362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#react #read-tool</a:t>
            </a:r>
            <a:endParaRPr lang="en-US" sz="73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40" y="394357"/>
            <a:ext cx="9429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6 帧 / 共 6 帧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34606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第五帧：信息够了，Agent 给出结论</a:t>
            </a:r>
            <a:endParaRPr lang="en-US" sz="1688" dirty="0"/>
          </a:p>
        </p:txBody>
      </p:sp>
      <p:sp>
        <p:nvSpPr>
          <p:cNvPr id="4" name="Shape 2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228600" y="171450"/>
            <a:ext cx="3300971" cy="48006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228600" y="178594"/>
            <a:ext cx="39230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经过 </a:t>
            </a:r>
            <a:endParaRPr lang="en-US" sz="1181" dirty="0"/>
          </a:p>
        </p:txBody>
      </p:sp>
      <p:sp>
        <p:nvSpPr>
          <p:cNvPr id="7" name="Text 5"/>
          <p:cNvSpPr/>
          <p:nvPr/>
        </p:nvSpPr>
        <p:spPr>
          <a:xfrm>
            <a:off x="575183" y="178594"/>
            <a:ext cx="92786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轮工具调用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228600" y="178594"/>
            <a:ext cx="3090074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（ls + Read app.rs + Grep "pub struct"），Agent 拼出全貌。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385763" y="821531"/>
            <a:ext cx="76165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窗口最终占用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1700" y="821531"/>
            <a:ext cx="29329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763" y="1087189"/>
            <a:ext cx="267774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原始用户问题仅 1 行，结论却用了几千 token 才得到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5763" y="1352848"/>
            <a:ext cx="15144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价值密度低 —— 大量字符是 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54473" y="1352848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中间产物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4599905"/>
            <a:ext cx="3300971" cy="272132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714205"/>
            <a:ext cx="3010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下一节 · 上下文窗口治理：怎么让这些"中间产物"不污染长程任务。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3872471" y="171450"/>
            <a:ext cx="5042929" cy="48006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3872471" y="171450"/>
            <a:ext cx="5042929" cy="4190702"/>
          </a:xfrm>
          <a:prstGeom prst="roundRect">
            <a:avLst>
              <a:gd name="adj" fmla="val 671"/>
            </a:avLst>
          </a:prstGeom>
          <a:solidFill>
            <a:srgbClr val="FBFBFB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79614" y="178594"/>
            <a:ext cx="5028642" cy="267109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3979627" y="250031"/>
            <a:ext cx="13471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jcli chat · session #42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8129253" y="250031"/>
            <a:ext cx="7247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3 done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3879614" y="445703"/>
            <a:ext cx="5028642" cy="3909306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3993914" y="545716"/>
            <a:ext cx="4800042" cy="503523"/>
          </a:xfrm>
          <a:prstGeom prst="roundRect">
            <a:avLst>
              <a:gd name="adj" fmla="val 5588"/>
            </a:avLst>
          </a:prstGeom>
          <a:solidFill>
            <a:srgbClr val="FAFAFA">
              <a:alpha val="55000"/>
            </a:srgbClr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08214" y="638584"/>
            <a:ext cx="63351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RESULT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7881565" y="652872"/>
            <a:ext cx="79380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2 · Read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4108214" y="829233"/>
            <a:ext cx="26655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 struct ChatApp { ... } · 55+7+9+2 fields ...</a:t>
            </a:r>
            <a:endParaRPr lang="en-US" sz="731" dirty="0"/>
          </a:p>
        </p:txBody>
      </p:sp>
      <p:sp>
        <p:nvSpPr>
          <p:cNvPr id="26" name="Shape 24"/>
          <p:cNvSpPr/>
          <p:nvPr/>
        </p:nvSpPr>
        <p:spPr>
          <a:xfrm>
            <a:off x="3993914" y="1134963"/>
            <a:ext cx="4800042" cy="503523"/>
          </a:xfrm>
          <a:prstGeom prst="roundRect">
            <a:avLst>
              <a:gd name="adj" fmla="val 5588"/>
            </a:avLst>
          </a:prstGeom>
          <a:solidFill>
            <a:srgbClr val="FAFAFA">
              <a:alpha val="55000"/>
            </a:srgbClr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08214" y="1227832"/>
            <a:ext cx="63351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RESULT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7186836" y="1242120"/>
            <a:ext cx="148853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3 · Grep "pub struct"</a:t>
            </a:r>
            <a:endParaRPr lang="en-US" sz="619" dirty="0"/>
          </a:p>
        </p:txBody>
      </p:sp>
      <p:sp>
        <p:nvSpPr>
          <p:cNvPr id="29" name="Text 27"/>
          <p:cNvSpPr/>
          <p:nvPr/>
        </p:nvSpPr>
        <p:spPr>
          <a:xfrm>
            <a:off x="4108214" y="1418481"/>
            <a:ext cx="370253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app.rs:24 ChatApp · app.rs:108 UIState · app.rs:312 ChatState · ...</a:t>
            </a:r>
            <a:endParaRPr lang="en-US" sz="731" dirty="0"/>
          </a:p>
        </p:txBody>
      </p:sp>
      <p:sp>
        <p:nvSpPr>
          <p:cNvPr id="30" name="Shape 28"/>
          <p:cNvSpPr/>
          <p:nvPr/>
        </p:nvSpPr>
        <p:spPr>
          <a:xfrm>
            <a:off x="3993914" y="1724211"/>
            <a:ext cx="4800042" cy="1544948"/>
          </a:xfrm>
          <a:prstGeom prst="roundRect">
            <a:avLst>
              <a:gd name="adj" fmla="val 1821"/>
            </a:avLst>
          </a:prstGeom>
          <a:solidFill>
            <a:srgbClr val="FBFC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08214" y="1817080"/>
            <a:ext cx="31294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</a:t>
            </a:r>
            <a:endParaRPr lang="en-US" sz="619" dirty="0"/>
          </a:p>
        </p:txBody>
      </p:sp>
      <p:sp>
        <p:nvSpPr>
          <p:cNvPr id="32" name="Text 30"/>
          <p:cNvSpPr/>
          <p:nvPr/>
        </p:nvSpPr>
        <p:spPr>
          <a:xfrm>
            <a:off x="8362429" y="1831367"/>
            <a:ext cx="31294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</a:t>
            </a:r>
            <a:endParaRPr lang="en-US" sz="619" dirty="0"/>
          </a:p>
        </p:txBody>
      </p:sp>
      <p:sp>
        <p:nvSpPr>
          <p:cNvPr id="33" name="Text 31"/>
          <p:cNvSpPr/>
          <p:nvPr/>
        </p:nvSpPr>
        <p:spPr>
          <a:xfrm>
            <a:off x="4108214" y="2014872"/>
            <a:ext cx="246834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src/command/chat 共 27 个文件，按职责分四层：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4108214" y="2184871"/>
            <a:ext cx="22241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4284911" y="2184871"/>
            <a:ext cx="2435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入口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4482703" y="2184871"/>
            <a:ext cx="175285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mod.rs / app.rs / agent.rs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4108214" y="2354870"/>
            <a:ext cx="22241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</a:t>
            </a:r>
            <a:endParaRPr lang="en-US" sz="788" dirty="0"/>
          </a:p>
        </p:txBody>
      </p:sp>
      <p:sp>
        <p:nvSpPr>
          <p:cNvPr id="38" name="Text 36"/>
          <p:cNvSpPr/>
          <p:nvPr/>
        </p:nvSpPr>
        <p:spPr>
          <a:xfrm>
            <a:off x="4284911" y="2354870"/>
            <a:ext cx="2435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状态</a:t>
            </a:r>
            <a:endParaRPr lang="en-US" sz="788" dirty="0"/>
          </a:p>
        </p:txBody>
      </p:sp>
      <p:sp>
        <p:nvSpPr>
          <p:cNvPr id="39" name="Text 37"/>
          <p:cNvSpPr/>
          <p:nvPr/>
        </p:nvSpPr>
        <p:spPr>
          <a:xfrm>
            <a:off x="4482703" y="2354870"/>
            <a:ext cx="242604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UIState（55 字段） + ChatState（7 字段）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4108214" y="2524869"/>
            <a:ext cx="22241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4284911" y="2524869"/>
            <a:ext cx="22241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I/O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4461607" y="2524869"/>
            <a:ext cx="245919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handler/ · input_thread · render_cache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4108214" y="2694868"/>
            <a:ext cx="22241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4284911" y="2694868"/>
            <a:ext cx="2435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扩展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4482703" y="2694868"/>
            <a:ext cx="2047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tools/ · skill · hook · compact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4108214" y="3034866"/>
            <a:ext cx="302388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可优化点：UIState 字段过多，可按"输入/popup/缓存"再切分。</a:t>
            </a:r>
            <a:endParaRPr lang="en-US" sz="788" dirty="0"/>
          </a:p>
        </p:txBody>
      </p:sp>
      <p:sp>
        <p:nvSpPr>
          <p:cNvPr id="47" name="Text 45"/>
          <p:cNvSpPr/>
          <p:nvPr/>
        </p:nvSpPr>
        <p:spPr>
          <a:xfrm>
            <a:off x="3872471" y="444073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8764488" y="4440734"/>
            <a:ext cx="196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38%</a:t>
            </a:r>
            <a:endParaRPr lang="en-US" sz="675" dirty="0"/>
          </a:p>
        </p:txBody>
      </p:sp>
      <p:sp>
        <p:nvSpPr>
          <p:cNvPr id="49" name="Shape 47"/>
          <p:cNvSpPr/>
          <p:nvPr/>
        </p:nvSpPr>
        <p:spPr>
          <a:xfrm>
            <a:off x="4295961" y="4480694"/>
            <a:ext cx="4397090" cy="42863"/>
          </a:xfrm>
          <a:prstGeom prst="rect">
            <a:avLst/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03105" y="4487838"/>
            <a:ext cx="1665387" cy="28575"/>
          </a:xfrm>
          <a:prstGeom prst="rect">
            <a:avLst/>
          </a:prstGeom>
          <a:solidFill>
            <a:srgbClr val="7A5B00"/>
          </a:solidFill>
          <a:ln/>
        </p:spPr>
      </p:sp>
      <p:sp>
        <p:nvSpPr>
          <p:cNvPr id="51" name="Shape 49"/>
          <p:cNvSpPr/>
          <p:nvPr/>
        </p:nvSpPr>
        <p:spPr>
          <a:xfrm>
            <a:off x="3872471" y="4670673"/>
            <a:ext cx="5042929" cy="301377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72471" y="48064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state: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4310025" y="480640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1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4876391" y="480640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2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5442756" y="4806404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3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6009122" y="4806404"/>
            <a:ext cx="498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highlight>
                  <a:srgbClr val="1E3A8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summarize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228600" y="4887776"/>
            <a:ext cx="10282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#react #close-loop</a:t>
            </a:r>
            <a:endParaRPr lang="en-US" sz="73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核心挑战：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575308" y="257175"/>
            <a:ext cx="15309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上下文窗口有限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1557114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4293394" cy="1557114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8619" y="307181"/>
            <a:ext cx="65639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378619" y="640035"/>
            <a:ext cx="399219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的上下文窗口有硬上限（如 128K tokens）。Agent 执行一次复杂任务可能涉及数十次工具调用，每次调用结果都会填充窗口。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8619" y="1120006"/>
            <a:ext cx="265062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窗口一旦满了，Agent 就会丢失早期关键信息，导致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8619" y="1120006"/>
            <a:ext cx="389542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幻觉、重复操作、忘记目标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1803" y="1302841"/>
            <a:ext cx="1589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2006" y="171450"/>
            <a:ext cx="4293394" cy="1557114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2025" y="307181"/>
            <a:ext cx="65037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Solution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4772025" y="640035"/>
            <a:ext cx="2720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98393" y="640035"/>
            <a:ext cx="72471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分级消息窗口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77384" y="640035"/>
            <a:ext cx="1589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90567" y="640035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滚动窗口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72025" y="640035"/>
            <a:ext cx="400648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机制，智能地决定哪些信息保留、哪些压缩、哪些丢弃。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2025" y="1120006"/>
            <a:ext cx="8378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类比推荐系统：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64200" y="1120006"/>
            <a:ext cx="17431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把最有价值的上下文信息装入窗口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72025" y="1120006"/>
            <a:ext cx="4006371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，低价值执行过程少放，决策信息多放。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" y="4887776"/>
            <a:ext cx="146475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#context-window #scrolling</a:t>
            </a:r>
            <a:endParaRPr lang="en-US" sz="73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5309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不治理会怎样？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999580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窗口爆炸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2848347" y="257175"/>
            <a:ext cx="47010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实录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228600" y="221456"/>
            <a:ext cx="246131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一个真实的 Agent 任务，五轮工具调用之后……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531428"/>
            <a:ext cx="4578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1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8751652" y="529977"/>
            <a:ext cx="20946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18%</a:t>
            </a:r>
            <a:endParaRPr lang="en-US" sz="731" dirty="0"/>
          </a:p>
        </p:txBody>
      </p:sp>
      <p:sp>
        <p:nvSpPr>
          <p:cNvPr id="9" name="Text 7"/>
          <p:cNvSpPr/>
          <p:nvPr/>
        </p:nvSpPr>
        <p:spPr>
          <a:xfrm>
            <a:off x="228600" y="1013631"/>
            <a:ext cx="4578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2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8751652" y="1012180"/>
            <a:ext cx="20946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38%</a:t>
            </a:r>
            <a:endParaRPr lang="en-US" sz="731" dirty="0"/>
          </a:p>
        </p:txBody>
      </p:sp>
      <p:sp>
        <p:nvSpPr>
          <p:cNvPr id="11" name="Text 9"/>
          <p:cNvSpPr/>
          <p:nvPr/>
        </p:nvSpPr>
        <p:spPr>
          <a:xfrm>
            <a:off x="228600" y="1495834"/>
            <a:ext cx="4578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3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8751652" y="1494383"/>
            <a:ext cx="20946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62%</a:t>
            </a:r>
            <a:endParaRPr lang="en-US" sz="731" dirty="0"/>
          </a:p>
        </p:txBody>
      </p:sp>
      <p:sp>
        <p:nvSpPr>
          <p:cNvPr id="13" name="Text 11"/>
          <p:cNvSpPr/>
          <p:nvPr/>
        </p:nvSpPr>
        <p:spPr>
          <a:xfrm>
            <a:off x="228600" y="1978037"/>
            <a:ext cx="4578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4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8751652" y="1976586"/>
            <a:ext cx="20946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84%</a:t>
            </a:r>
            <a:endParaRPr lang="en-US" sz="731" dirty="0"/>
          </a:p>
        </p:txBody>
      </p:sp>
      <p:sp>
        <p:nvSpPr>
          <p:cNvPr id="15" name="Text 13"/>
          <p:cNvSpPr/>
          <p:nvPr/>
        </p:nvSpPr>
        <p:spPr>
          <a:xfrm>
            <a:off x="228600" y="2460241"/>
            <a:ext cx="4578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5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8751652" y="2458789"/>
            <a:ext cx="20946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97%</a:t>
            </a:r>
            <a:endParaRPr lang="en-US" sz="731" dirty="0"/>
          </a:p>
        </p:txBody>
      </p:sp>
      <p:sp>
        <p:nvSpPr>
          <p:cNvPr id="17" name="Text 15"/>
          <p:cNvSpPr/>
          <p:nvPr/>
        </p:nvSpPr>
        <p:spPr>
          <a:xfrm>
            <a:off x="228600" y="2942444"/>
            <a:ext cx="4578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compact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8751652" y="2940993"/>
            <a:ext cx="20946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34%</a:t>
            </a:r>
            <a:endParaRPr lang="en-US" sz="731" dirty="0"/>
          </a:p>
        </p:txBody>
      </p:sp>
      <p:sp>
        <p:nvSpPr>
          <p:cNvPr id="19" name="Shape 17"/>
          <p:cNvSpPr/>
          <p:nvPr/>
        </p:nvSpPr>
        <p:spPr>
          <a:xfrm>
            <a:off x="769293" y="511448"/>
            <a:ext cx="7674620" cy="171450"/>
          </a:xfrm>
          <a:prstGeom prst="roundRect">
            <a:avLst>
              <a:gd name="adj" fmla="val 8205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6436" y="518592"/>
            <a:ext cx="1378855" cy="157163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769293" y="725760"/>
            <a:ext cx="107765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系统提示 + 用户初始需求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769293" y="993651"/>
            <a:ext cx="7674620" cy="171450"/>
          </a:xfrm>
          <a:prstGeom prst="roundRect">
            <a:avLst>
              <a:gd name="adj" fmla="val 8205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6436" y="1000795"/>
            <a:ext cx="2910855" cy="157163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4" name="Text 22"/>
          <p:cNvSpPr/>
          <p:nvPr/>
        </p:nvSpPr>
        <p:spPr>
          <a:xfrm>
            <a:off x="769293" y="1207963"/>
            <a:ext cx="201906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Glob 扫描项目结构 + Read 主文件 (~3K tokens)</a:t>
            </a:r>
            <a:endParaRPr lang="en-US" sz="731" dirty="0"/>
          </a:p>
        </p:txBody>
      </p:sp>
      <p:sp>
        <p:nvSpPr>
          <p:cNvPr id="25" name="Shape 23"/>
          <p:cNvSpPr/>
          <p:nvPr/>
        </p:nvSpPr>
        <p:spPr>
          <a:xfrm>
            <a:off x="769293" y="1475854"/>
            <a:ext cx="7674620" cy="171450"/>
          </a:xfrm>
          <a:prstGeom prst="roundRect">
            <a:avLst>
              <a:gd name="adj" fmla="val 8205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6436" y="1482998"/>
            <a:ext cx="4749366" cy="157163"/>
          </a:xfrm>
          <a:prstGeom prst="rect">
            <a:avLst/>
          </a:prstGeom>
          <a:solidFill>
            <a:srgbClr val="7A5B00"/>
          </a:solidFill>
          <a:ln/>
        </p:spPr>
      </p:sp>
      <p:sp>
        <p:nvSpPr>
          <p:cNvPr id="27" name="Text 25"/>
          <p:cNvSpPr/>
          <p:nvPr/>
        </p:nvSpPr>
        <p:spPr>
          <a:xfrm>
            <a:off x="769293" y="1690167"/>
            <a:ext cx="21199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Grep 三次搜索 + Read 五个相关文件 (~8K tokens)</a:t>
            </a:r>
            <a:endParaRPr lang="en-US" sz="731" dirty="0"/>
          </a:p>
        </p:txBody>
      </p:sp>
      <p:sp>
        <p:nvSpPr>
          <p:cNvPr id="28" name="Shape 26"/>
          <p:cNvSpPr/>
          <p:nvPr/>
        </p:nvSpPr>
        <p:spPr>
          <a:xfrm>
            <a:off x="769293" y="1958057"/>
            <a:ext cx="7674620" cy="171450"/>
          </a:xfrm>
          <a:prstGeom prst="roundRect">
            <a:avLst>
              <a:gd name="adj" fmla="val 8205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6436" y="1965201"/>
            <a:ext cx="6434621" cy="157163"/>
          </a:xfrm>
          <a:prstGeom prst="rect">
            <a:avLst/>
          </a:prstGeom>
          <a:solidFill>
            <a:srgbClr val="7A5B00"/>
          </a:solidFill>
          <a:ln/>
        </p:spPr>
      </p:sp>
      <p:sp>
        <p:nvSpPr>
          <p:cNvPr id="30" name="Text 28"/>
          <p:cNvSpPr/>
          <p:nvPr/>
        </p:nvSpPr>
        <p:spPr>
          <a:xfrm>
            <a:off x="769293" y="2172370"/>
            <a:ext cx="239701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Bash 编译 + 完整错误日志 + Edit 候选 diff (~10K tokens)</a:t>
            </a:r>
            <a:endParaRPr lang="en-US" sz="731" dirty="0"/>
          </a:p>
        </p:txBody>
      </p:sp>
      <p:sp>
        <p:nvSpPr>
          <p:cNvPr id="31" name="Shape 29"/>
          <p:cNvSpPr/>
          <p:nvPr/>
        </p:nvSpPr>
        <p:spPr>
          <a:xfrm>
            <a:off x="769293" y="2440260"/>
            <a:ext cx="7674620" cy="171450"/>
          </a:xfrm>
          <a:prstGeom prst="roundRect">
            <a:avLst>
              <a:gd name="adj" fmla="val 8205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6436" y="2447404"/>
            <a:ext cx="7430505" cy="157163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33" name="Text 31"/>
          <p:cNvSpPr/>
          <p:nvPr/>
        </p:nvSpPr>
        <p:spPr>
          <a:xfrm>
            <a:off x="769293" y="2654573"/>
            <a:ext cx="371649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7A1F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超出健康区：Agent 开始忘记最早的需求，重复 Read 已读过的文件，编造不存在的函数名</a:t>
            </a:r>
            <a:endParaRPr lang="en-US" sz="731" dirty="0"/>
          </a:p>
        </p:txBody>
      </p:sp>
      <p:sp>
        <p:nvSpPr>
          <p:cNvPr id="34" name="Shape 32"/>
          <p:cNvSpPr/>
          <p:nvPr/>
        </p:nvSpPr>
        <p:spPr>
          <a:xfrm>
            <a:off x="769293" y="2922463"/>
            <a:ext cx="7674620" cy="171450"/>
          </a:xfrm>
          <a:prstGeom prst="roundRect">
            <a:avLst>
              <a:gd name="adj" fmla="val 8205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6436" y="2929607"/>
            <a:ext cx="2604455" cy="157163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6" name="Text 34"/>
          <p:cNvSpPr/>
          <p:nvPr/>
        </p:nvSpPr>
        <p:spPr>
          <a:xfrm>
            <a:off x="769293" y="3136776"/>
            <a:ext cx="312612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1E5E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 compact 触发：摘要 + 清空 → 窗口回到健康水平，关键决策信息保留</a:t>
            </a:r>
            <a:endParaRPr lang="en-US" sz="731" dirty="0"/>
          </a:p>
        </p:txBody>
      </p:sp>
      <p:sp>
        <p:nvSpPr>
          <p:cNvPr id="37" name="Text 35"/>
          <p:cNvSpPr/>
          <p:nvPr/>
        </p:nvSpPr>
        <p:spPr>
          <a:xfrm>
            <a:off x="228600" y="4887776"/>
            <a:ext cx="168309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#token-pressure #hallucination</a:t>
            </a:r>
            <a:endParaRPr lang="en-US" sz="73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多级压缩：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575308" y="257175"/>
            <a:ext cx="61242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2142009" y="257175"/>
            <a:ext cx="39643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与 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2492722" y="257175"/>
            <a:ext cx="49064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</a:t>
            </a:r>
            <a:endParaRPr lang="en-US" sz="1688" dirty="0"/>
          </a:p>
        </p:txBody>
      </p:sp>
      <p:sp>
        <p:nvSpPr>
          <p:cNvPr id="7" name="Shape 5"/>
          <p:cNvSpPr/>
          <p:nvPr/>
        </p:nvSpPr>
        <p:spPr>
          <a:xfrm>
            <a:off x="228600" y="171450"/>
            <a:ext cx="8686800" cy="2422178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08310" y="392906"/>
            <a:ext cx="2578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豁免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928688" y="335756"/>
            <a:ext cx="11284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高价值消息不被压缩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928688" y="579983"/>
            <a:ext cx="606979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用户消息、Agent 语言消息、System 提醒（TODO/Teammate）、Plan、Skill、TODOWrite/Read、SubAgent 结果 —— 这些是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6952766" y="579983"/>
            <a:ext cx="78788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决策和方向信息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694935" y="579983"/>
            <a:ext cx="68184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，必须保留。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349262" y="1233636"/>
            <a:ext cx="37578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micro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928688" y="1176486"/>
            <a:ext cx="1688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轻量级压缩 —— 快速腾出空间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928688" y="1420713"/>
            <a:ext cx="44982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保留消息摘要和关键结论，去除冗长的工具输出。速度快，适合窗口接近上限时快速释放空间。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382302" y="2074366"/>
            <a:ext cx="30981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928688" y="2017216"/>
            <a:ext cx="15680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深度压缩 —— 完整重写窗口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928688" y="2261443"/>
            <a:ext cx="184795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将整个对话历史总结为精简摘要，然后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2730922" y="2261443"/>
            <a:ext cx="102664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清空窗口 + 写入摘要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3711848" y="2261443"/>
            <a:ext cx="271580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。适合 Agent 已经运行很久，需要一次"大扫除"的场景。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228600" y="2686496"/>
            <a:ext cx="15864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 Read/Edit/Bash 等工具调用结果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1769306" y="2686496"/>
            <a:ext cx="3424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不豁免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2065995" y="2686496"/>
            <a:ext cx="1627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，因为其信息价值随轮次衰减极快。</a:t>
            </a:r>
            <a:endParaRPr lang="en-US" sz="78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滚动窗口：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575308" y="257175"/>
            <a:ext cx="21675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把上下文当作推荐系统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228600" y="221456"/>
            <a:ext cx="29156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窗口空间 = 推荐位；候选消息 = 物料；价值评分 = CTR 预估</a:t>
            </a:r>
            <a:endParaRPr lang="en-US" sz="844" dirty="0"/>
          </a:p>
        </p:txBody>
      </p:sp>
      <p:sp>
        <p:nvSpPr>
          <p:cNvPr id="6" name="Shape 4"/>
          <p:cNvSpPr/>
          <p:nvPr/>
        </p:nvSpPr>
        <p:spPr>
          <a:xfrm>
            <a:off x="228600" y="487561"/>
            <a:ext cx="8686800" cy="3691198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" y="487561"/>
            <a:ext cx="3814763" cy="3691198"/>
          </a:xfrm>
          <a:prstGeom prst="roundRect">
            <a:avLst>
              <a:gd name="adj" fmla="val 762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044" y="616148"/>
            <a:ext cx="10375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候选池 (按价值打分)</a:t>
            </a:r>
            <a:endParaRPr lang="en-US" sz="731" dirty="0"/>
          </a:p>
        </p:txBody>
      </p:sp>
      <p:sp>
        <p:nvSpPr>
          <p:cNvPr id="9" name="Shape 7"/>
          <p:cNvSpPr/>
          <p:nvPr/>
        </p:nvSpPr>
        <p:spPr>
          <a:xfrm>
            <a:off x="350044" y="864729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929022"/>
            <a:ext cx="6389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用户初始需求 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3534370" y="940408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p=1.00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350044" y="1188988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253282"/>
            <a:ext cx="4706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文档 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3534370" y="1264667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p=0.95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50044" y="1513247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577541"/>
            <a:ext cx="739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决策语句 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3534370" y="1588926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p=0.90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350044" y="1837506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901800"/>
            <a:ext cx="754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 当前任务 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3534370" y="1913186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p=0.88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350044" y="2161766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226059"/>
            <a:ext cx="9137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SubAgent 调研结论 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3534370" y="2237445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p=0.85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350044" y="2486025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550319"/>
            <a:ext cx="6563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加载内容 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3534370" y="2561704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p=0.70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350044" y="2810284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874578"/>
            <a:ext cx="730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最近 3 轮 Read 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3534370" y="2885963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p=0.55</a:t>
            </a:r>
            <a:endParaRPr lang="en-US" sz="675" dirty="0"/>
          </a:p>
        </p:txBody>
      </p:sp>
      <p:sp>
        <p:nvSpPr>
          <p:cNvPr id="30" name="Shape 28"/>
          <p:cNvSpPr/>
          <p:nvPr/>
        </p:nvSpPr>
        <p:spPr>
          <a:xfrm>
            <a:off x="350044" y="3134544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198837"/>
            <a:ext cx="730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远期 Bash 输出 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3534370" y="3210223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p=0.20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350044" y="3458803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523097"/>
            <a:ext cx="72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 Grep 结果 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3534370" y="3534482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p=0.15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350044" y="3783062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847356"/>
            <a:ext cx="849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已被覆盖的旧 Edit </a:t>
            </a:r>
            <a:endParaRPr lang="en-US" sz="788" dirty="0"/>
          </a:p>
        </p:txBody>
      </p:sp>
      <p:sp>
        <p:nvSpPr>
          <p:cNvPr id="38" name="Text 36"/>
          <p:cNvSpPr/>
          <p:nvPr/>
        </p:nvSpPr>
        <p:spPr>
          <a:xfrm>
            <a:off x="3534370" y="3858741"/>
            <a:ext cx="347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p=0.08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367957" y="1863291"/>
            <a:ext cx="453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 BY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367957" y="2000362"/>
            <a:ext cx="3372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4512283" y="2194582"/>
            <a:ext cx="16504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4397090" y="2543175"/>
            <a:ext cx="278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FILL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4397090" y="2680246"/>
            <a:ext cx="3955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5100638" y="487561"/>
            <a:ext cx="3814763" cy="3691198"/>
          </a:xfrm>
          <a:prstGeom prst="roundRect">
            <a:avLst>
              <a:gd name="adj" fmla="val 762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22081" y="616148"/>
            <a:ext cx="114909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装入窗口（按价值选取）</a:t>
            </a:r>
            <a:endParaRPr lang="en-US" sz="731" dirty="0"/>
          </a:p>
        </p:txBody>
      </p:sp>
      <p:sp>
        <p:nvSpPr>
          <p:cNvPr id="46" name="Shape 44"/>
          <p:cNvSpPr/>
          <p:nvPr/>
        </p:nvSpPr>
        <p:spPr>
          <a:xfrm>
            <a:off x="5222081" y="864729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329238" y="929022"/>
            <a:ext cx="6389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用户初始需求 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8506978" y="940408"/>
            <a:ext cx="246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KEEP</a:t>
            </a:r>
            <a:endParaRPr lang="en-US" sz="675" dirty="0"/>
          </a:p>
        </p:txBody>
      </p:sp>
      <p:sp>
        <p:nvSpPr>
          <p:cNvPr id="49" name="Shape 47"/>
          <p:cNvSpPr/>
          <p:nvPr/>
        </p:nvSpPr>
        <p:spPr>
          <a:xfrm>
            <a:off x="5222081" y="1188988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329238" y="1253282"/>
            <a:ext cx="4706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文档 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8506978" y="1264667"/>
            <a:ext cx="246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KEEP</a:t>
            </a:r>
            <a:endParaRPr lang="en-US" sz="675" dirty="0"/>
          </a:p>
        </p:txBody>
      </p:sp>
      <p:sp>
        <p:nvSpPr>
          <p:cNvPr id="52" name="Shape 50"/>
          <p:cNvSpPr/>
          <p:nvPr/>
        </p:nvSpPr>
        <p:spPr>
          <a:xfrm>
            <a:off x="5222081" y="1513247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329238" y="1577541"/>
            <a:ext cx="739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决策语句 </a:t>
            </a:r>
            <a:endParaRPr lang="en-US" sz="788" dirty="0"/>
          </a:p>
        </p:txBody>
      </p:sp>
      <p:sp>
        <p:nvSpPr>
          <p:cNvPr id="54" name="Text 52"/>
          <p:cNvSpPr/>
          <p:nvPr/>
        </p:nvSpPr>
        <p:spPr>
          <a:xfrm>
            <a:off x="8506978" y="1588926"/>
            <a:ext cx="246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KEEP</a:t>
            </a:r>
            <a:endParaRPr lang="en-US" sz="675" dirty="0"/>
          </a:p>
        </p:txBody>
      </p:sp>
      <p:sp>
        <p:nvSpPr>
          <p:cNvPr id="55" name="Shape 53"/>
          <p:cNvSpPr/>
          <p:nvPr/>
        </p:nvSpPr>
        <p:spPr>
          <a:xfrm>
            <a:off x="5222081" y="1837506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5329238" y="1901800"/>
            <a:ext cx="754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 当前任务 </a:t>
            </a:r>
            <a:endParaRPr lang="en-US" sz="788" dirty="0"/>
          </a:p>
        </p:txBody>
      </p:sp>
      <p:sp>
        <p:nvSpPr>
          <p:cNvPr id="57" name="Text 55"/>
          <p:cNvSpPr/>
          <p:nvPr/>
        </p:nvSpPr>
        <p:spPr>
          <a:xfrm>
            <a:off x="8506978" y="1913186"/>
            <a:ext cx="246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KEEP</a:t>
            </a:r>
            <a:endParaRPr lang="en-US" sz="675" dirty="0"/>
          </a:p>
        </p:txBody>
      </p:sp>
      <p:sp>
        <p:nvSpPr>
          <p:cNvPr id="58" name="Shape 56"/>
          <p:cNvSpPr/>
          <p:nvPr/>
        </p:nvSpPr>
        <p:spPr>
          <a:xfrm>
            <a:off x="5222081" y="2161766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5329238" y="2226059"/>
            <a:ext cx="9137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SubAgent 调研结论 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8506978" y="2237445"/>
            <a:ext cx="246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KEEP</a:t>
            </a:r>
            <a:endParaRPr lang="en-US" sz="675" dirty="0"/>
          </a:p>
        </p:txBody>
      </p:sp>
      <p:sp>
        <p:nvSpPr>
          <p:cNvPr id="61" name="Shape 59"/>
          <p:cNvSpPr/>
          <p:nvPr/>
        </p:nvSpPr>
        <p:spPr>
          <a:xfrm>
            <a:off x="5222081" y="2486025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329238" y="2550319"/>
            <a:ext cx="6563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加载内容 </a:t>
            </a:r>
            <a:endParaRPr lang="en-US" sz="788" dirty="0"/>
          </a:p>
        </p:txBody>
      </p:sp>
      <p:sp>
        <p:nvSpPr>
          <p:cNvPr id="63" name="Text 61"/>
          <p:cNvSpPr/>
          <p:nvPr/>
        </p:nvSpPr>
        <p:spPr>
          <a:xfrm>
            <a:off x="8506978" y="2561704"/>
            <a:ext cx="246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KEEP</a:t>
            </a:r>
            <a:endParaRPr lang="en-US" sz="675" dirty="0"/>
          </a:p>
        </p:txBody>
      </p:sp>
      <p:sp>
        <p:nvSpPr>
          <p:cNvPr id="64" name="Shape 62"/>
          <p:cNvSpPr/>
          <p:nvPr/>
        </p:nvSpPr>
        <p:spPr>
          <a:xfrm>
            <a:off x="5222081" y="2810284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5329238" y="2874578"/>
            <a:ext cx="730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最近 3 轮 Read </a:t>
            </a:r>
            <a:endParaRPr lang="en-US" sz="788" dirty="0"/>
          </a:p>
        </p:txBody>
      </p:sp>
      <p:sp>
        <p:nvSpPr>
          <p:cNvPr id="66" name="Text 64"/>
          <p:cNvSpPr/>
          <p:nvPr/>
        </p:nvSpPr>
        <p:spPr>
          <a:xfrm>
            <a:off x="8506978" y="2885963"/>
            <a:ext cx="246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KEEP</a:t>
            </a:r>
            <a:endParaRPr lang="en-US" sz="675" dirty="0"/>
          </a:p>
        </p:txBody>
      </p:sp>
      <p:sp>
        <p:nvSpPr>
          <p:cNvPr id="67" name="Shape 65"/>
          <p:cNvSpPr/>
          <p:nvPr/>
        </p:nvSpPr>
        <p:spPr>
          <a:xfrm>
            <a:off x="5222081" y="3134544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329238" y="3198837"/>
            <a:ext cx="730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远期 Bash 输出 </a:t>
            </a:r>
            <a:endParaRPr lang="en-US" sz="788" dirty="0"/>
          </a:p>
        </p:txBody>
      </p:sp>
      <p:sp>
        <p:nvSpPr>
          <p:cNvPr id="69" name="Text 67"/>
          <p:cNvSpPr/>
          <p:nvPr/>
        </p:nvSpPr>
        <p:spPr>
          <a:xfrm>
            <a:off x="8506978" y="3210223"/>
            <a:ext cx="246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</a:t>
            </a:r>
            <a:endParaRPr lang="en-US" sz="675" dirty="0"/>
          </a:p>
        </p:txBody>
      </p:sp>
      <p:sp>
        <p:nvSpPr>
          <p:cNvPr id="70" name="Shape 68"/>
          <p:cNvSpPr/>
          <p:nvPr/>
        </p:nvSpPr>
        <p:spPr>
          <a:xfrm>
            <a:off x="5222081" y="3458803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5329238" y="3523097"/>
            <a:ext cx="72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 Grep 结果 </a:t>
            </a:r>
            <a:endParaRPr lang="en-US" sz="788" dirty="0"/>
          </a:p>
        </p:txBody>
      </p:sp>
      <p:sp>
        <p:nvSpPr>
          <p:cNvPr id="72" name="Text 70"/>
          <p:cNvSpPr/>
          <p:nvPr/>
        </p:nvSpPr>
        <p:spPr>
          <a:xfrm>
            <a:off x="8506978" y="3534482"/>
            <a:ext cx="246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</a:t>
            </a:r>
            <a:endParaRPr lang="en-US" sz="675" dirty="0"/>
          </a:p>
        </p:txBody>
      </p:sp>
      <p:sp>
        <p:nvSpPr>
          <p:cNvPr id="73" name="Shape 71"/>
          <p:cNvSpPr/>
          <p:nvPr/>
        </p:nvSpPr>
        <p:spPr>
          <a:xfrm>
            <a:off x="5222081" y="3783062"/>
            <a:ext cx="3571875" cy="274253"/>
          </a:xfrm>
          <a:prstGeom prst="roundRect">
            <a:avLst>
              <a:gd name="adj" fmla="val 5129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5329238" y="3847356"/>
            <a:ext cx="849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highlight>
                  <a:srgbClr val="FFFF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已被覆盖的旧 Edit </a:t>
            </a:r>
            <a:endParaRPr lang="en-US" sz="788" dirty="0"/>
          </a:p>
        </p:txBody>
      </p:sp>
      <p:sp>
        <p:nvSpPr>
          <p:cNvPr id="75" name="Text 73"/>
          <p:cNvSpPr/>
          <p:nvPr/>
        </p:nvSpPr>
        <p:spPr>
          <a:xfrm>
            <a:off x="8506978" y="3858741"/>
            <a:ext cx="246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3260899" y="4271628"/>
            <a:ext cx="46865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核心洞察：</a:t>
            </a:r>
            <a:endParaRPr lang="en-US" sz="675" dirty="0"/>
          </a:p>
        </p:txBody>
      </p:sp>
      <p:sp>
        <p:nvSpPr>
          <p:cNvPr id="77" name="Text 75"/>
          <p:cNvSpPr/>
          <p:nvPr/>
        </p:nvSpPr>
        <p:spPr>
          <a:xfrm>
            <a:off x="3683831" y="4271628"/>
            <a:ext cx="22448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决策信息多放、指导方向信息多放、执行中间过程信息少放</a:t>
            </a:r>
            <a:endParaRPr lang="en-US" sz="675" dirty="0"/>
          </a:p>
        </p:txBody>
      </p:sp>
      <p:sp>
        <p:nvSpPr>
          <p:cNvPr id="78" name="Text 76"/>
          <p:cNvSpPr/>
          <p:nvPr/>
        </p:nvSpPr>
        <p:spPr>
          <a:xfrm>
            <a:off x="228600" y="4887776"/>
            <a:ext cx="190142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#scrolling-window #rec-sys-analogy</a:t>
            </a:r>
            <a:endParaRPr lang="en-US" sz="73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0"/>
            <a:ext cx="229343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 System Prompt：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514350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尾部追加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1363117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的状态感知</a:t>
            </a:r>
            <a:endParaRPr lang="en-US" sz="1688" dirty="0"/>
          </a:p>
        </p:txBody>
      </p:sp>
      <p:sp>
        <p:nvSpPr>
          <p:cNvPr id="6" name="Shape 4"/>
          <p:cNvSpPr/>
          <p:nvPr/>
        </p:nvSpPr>
        <p:spPr>
          <a:xfrm>
            <a:off x="228600" y="171450"/>
            <a:ext cx="8686800" cy="1364456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" y="171450"/>
            <a:ext cx="8686800" cy="564356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228600" y="171450"/>
            <a:ext cx="857250" cy="564356"/>
          </a:xfrm>
          <a:prstGeom prst="roundRect">
            <a:avLst>
              <a:gd name="adj" fmla="val 4985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530" y="386432"/>
            <a:ext cx="4469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highlight>
                  <a:srgbClr val="F3F5F9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静态基础</a:t>
            </a:r>
            <a:endParaRPr lang="en-US" sz="731" dirty="0"/>
          </a:p>
        </p:txBody>
      </p:sp>
      <p:sp>
        <p:nvSpPr>
          <p:cNvPr id="10" name="Shape 8"/>
          <p:cNvSpPr/>
          <p:nvPr/>
        </p:nvSpPr>
        <p:spPr>
          <a:xfrm>
            <a:off x="1185863" y="171450"/>
            <a:ext cx="7729538" cy="564356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1185863" y="171450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13186" y="285750"/>
            <a:ext cx="4698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项目规范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1864854" y="475059"/>
            <a:ext cx="56643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AGENTS.md</a:t>
            </a:r>
            <a:endParaRPr lang="en-US" sz="731" dirty="0"/>
          </a:p>
        </p:txBody>
      </p:sp>
      <p:sp>
        <p:nvSpPr>
          <p:cNvPr id="14" name="Shape 12"/>
          <p:cNvSpPr/>
          <p:nvPr/>
        </p:nvSpPr>
        <p:spPr>
          <a:xfrm>
            <a:off x="3136106" y="171450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3429" y="285750"/>
            <a:ext cx="4698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工具定义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3800252" y="475059"/>
            <a:ext cx="59623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Schema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5086350" y="171450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3673" y="285750"/>
            <a:ext cx="4698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环境信息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5809543" y="475059"/>
            <a:ext cx="47802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 / Shell</a:t>
            </a:r>
            <a:endParaRPr lang="en-US" sz="731" dirty="0"/>
          </a:p>
        </p:txBody>
      </p:sp>
      <p:sp>
        <p:nvSpPr>
          <p:cNvPr id="20" name="Shape 18"/>
          <p:cNvSpPr/>
          <p:nvPr/>
        </p:nvSpPr>
        <p:spPr>
          <a:xfrm>
            <a:off x="7036594" y="171450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72301" y="285750"/>
            <a:ext cx="2530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7792492" y="475059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按需加载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228600" y="850106"/>
            <a:ext cx="8686800" cy="5715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228600" y="850106"/>
            <a:ext cx="857250" cy="571500"/>
          </a:xfrm>
          <a:prstGeom prst="roundRect">
            <a:avLst>
              <a:gd name="adj" fmla="val 4923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6530" y="1068660"/>
            <a:ext cx="4469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highlight>
                  <a:srgbClr val="F3F5F9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动态追加</a:t>
            </a:r>
            <a:endParaRPr lang="en-US" sz="731" dirty="0"/>
          </a:p>
        </p:txBody>
      </p:sp>
      <p:sp>
        <p:nvSpPr>
          <p:cNvPr id="26" name="Shape 24"/>
          <p:cNvSpPr/>
          <p:nvPr/>
        </p:nvSpPr>
        <p:spPr>
          <a:xfrm>
            <a:off x="1185863" y="850106"/>
            <a:ext cx="7729538" cy="5715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1185863" y="850106"/>
            <a:ext cx="1878806" cy="5715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13186" y="971550"/>
            <a:ext cx="4698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后台任务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1643174" y="1160859"/>
            <a:ext cx="100979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 / BackgroundJob</a:t>
            </a:r>
            <a:endParaRPr lang="en-US" sz="731" dirty="0"/>
          </a:p>
        </p:txBody>
      </p:sp>
      <p:sp>
        <p:nvSpPr>
          <p:cNvPr id="30" name="Shape 28"/>
          <p:cNvSpPr/>
          <p:nvPr/>
        </p:nvSpPr>
        <p:spPr>
          <a:xfrm>
            <a:off x="3136106" y="850106"/>
            <a:ext cx="1878806" cy="5715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10856" y="971550"/>
            <a:ext cx="57491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Teammate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3800252" y="1160859"/>
            <a:ext cx="59612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协作队友状态</a:t>
            </a:r>
            <a:endParaRPr lang="en-US" sz="731" dirty="0"/>
          </a:p>
        </p:txBody>
      </p:sp>
      <p:sp>
        <p:nvSpPr>
          <p:cNvPr id="33" name="Shape 31"/>
          <p:cNvSpPr/>
          <p:nvPr/>
        </p:nvSpPr>
        <p:spPr>
          <a:xfrm>
            <a:off x="5086350" y="850106"/>
            <a:ext cx="1878806" cy="5715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3390" y="971550"/>
            <a:ext cx="35033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5704619" y="1160859"/>
            <a:ext cx="68787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过期未更新提醒</a:t>
            </a:r>
            <a:endParaRPr lang="en-US" sz="731" dirty="0"/>
          </a:p>
        </p:txBody>
      </p:sp>
      <p:sp>
        <p:nvSpPr>
          <p:cNvPr id="36" name="Shape 34"/>
          <p:cNvSpPr/>
          <p:nvPr/>
        </p:nvSpPr>
        <p:spPr>
          <a:xfrm>
            <a:off x="7036594" y="850106"/>
            <a:ext cx="1878806" cy="5715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80437" y="971550"/>
            <a:ext cx="43684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7746616" y="1160859"/>
            <a:ext cx="50437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交互式任务</a:t>
            </a:r>
            <a:endParaRPr lang="en-US" sz="73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工具体系：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575308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渐进增强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2424075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的设计哲学</a:t>
            </a:r>
            <a:endParaRPr lang="en-US" sz="1688" dirty="0"/>
          </a:p>
        </p:txBody>
      </p:sp>
      <p:sp>
        <p:nvSpPr>
          <p:cNvPr id="6" name="Shape 4"/>
          <p:cNvSpPr/>
          <p:nvPr/>
        </p:nvSpPr>
        <p:spPr>
          <a:xfrm>
            <a:off x="228600" y="171450"/>
            <a:ext cx="8686800" cy="192881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" y="171450"/>
            <a:ext cx="8686800" cy="564356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228600" y="171450"/>
            <a:ext cx="857250" cy="564356"/>
          </a:xfrm>
          <a:prstGeom prst="roundRect">
            <a:avLst>
              <a:gd name="adj" fmla="val 4985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6760" y="386432"/>
            <a:ext cx="346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highlight>
                  <a:srgbClr val="F3F5F9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基础层</a:t>
            </a:r>
            <a:endParaRPr lang="en-US" sz="731" dirty="0"/>
          </a:p>
        </p:txBody>
      </p:sp>
      <p:sp>
        <p:nvSpPr>
          <p:cNvPr id="10" name="Shape 8"/>
          <p:cNvSpPr/>
          <p:nvPr/>
        </p:nvSpPr>
        <p:spPr>
          <a:xfrm>
            <a:off x="1185863" y="171450"/>
            <a:ext cx="7729538" cy="564356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1185863" y="171450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6901" y="285750"/>
            <a:ext cx="30244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1941761" y="475059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读取文件</a:t>
            </a:r>
            <a:endParaRPr lang="en-US" sz="731" dirty="0"/>
          </a:p>
        </p:txBody>
      </p:sp>
      <p:sp>
        <p:nvSpPr>
          <p:cNvPr id="14" name="Shape 12"/>
          <p:cNvSpPr/>
          <p:nvPr/>
        </p:nvSpPr>
        <p:spPr>
          <a:xfrm>
            <a:off x="3136106" y="171450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2680" y="285750"/>
            <a:ext cx="31126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3892004" y="475059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写入文件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5086350" y="171450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1296" y="285750"/>
            <a:ext cx="29452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Bash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5842248" y="475059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执行命令</a:t>
            </a:r>
            <a:endParaRPr lang="en-US" sz="731" dirty="0"/>
          </a:p>
        </p:txBody>
      </p:sp>
      <p:sp>
        <p:nvSpPr>
          <p:cNvPr id="20" name="Shape 18"/>
          <p:cNvSpPr/>
          <p:nvPr/>
        </p:nvSpPr>
        <p:spPr>
          <a:xfrm>
            <a:off x="7036594" y="171450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47843" y="285750"/>
            <a:ext cx="50191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LoadSkill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7792492" y="475059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按需加载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228600" y="850106"/>
            <a:ext cx="8686800" cy="5715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228600" y="850106"/>
            <a:ext cx="857250" cy="571500"/>
          </a:xfrm>
          <a:prstGeom prst="roundRect">
            <a:avLst>
              <a:gd name="adj" fmla="val 4923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6760" y="1068660"/>
            <a:ext cx="346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highlight>
                  <a:srgbClr val="F3F5F9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增强层</a:t>
            </a:r>
            <a:endParaRPr lang="en-US" sz="731" dirty="0"/>
          </a:p>
        </p:txBody>
      </p:sp>
      <p:sp>
        <p:nvSpPr>
          <p:cNvPr id="26" name="Shape 24"/>
          <p:cNvSpPr/>
          <p:nvPr/>
        </p:nvSpPr>
        <p:spPr>
          <a:xfrm>
            <a:off x="1185863" y="850106"/>
            <a:ext cx="7729538" cy="5715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1185863" y="850106"/>
            <a:ext cx="1878806" cy="5715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04268" y="971550"/>
            <a:ext cx="28760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Grep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1941761" y="1160859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搜索匹配</a:t>
            </a:r>
            <a:endParaRPr lang="en-US" sz="731" dirty="0"/>
          </a:p>
        </p:txBody>
      </p:sp>
      <p:sp>
        <p:nvSpPr>
          <p:cNvPr id="30" name="Shape 28"/>
          <p:cNvSpPr/>
          <p:nvPr/>
        </p:nvSpPr>
        <p:spPr>
          <a:xfrm>
            <a:off x="3136106" y="850106"/>
            <a:ext cx="1878806" cy="5715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82975" y="971550"/>
            <a:ext cx="23067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Ask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3892004" y="1160859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澄清意图</a:t>
            </a:r>
            <a:endParaRPr lang="en-US" sz="731" dirty="0"/>
          </a:p>
        </p:txBody>
      </p:sp>
      <p:sp>
        <p:nvSpPr>
          <p:cNvPr id="33" name="Shape 31"/>
          <p:cNvSpPr/>
          <p:nvPr/>
        </p:nvSpPr>
        <p:spPr>
          <a:xfrm>
            <a:off x="5086350" y="850106"/>
            <a:ext cx="1878806" cy="5715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17481" y="971550"/>
            <a:ext cx="26215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5842248" y="1160859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制定计划</a:t>
            </a:r>
            <a:endParaRPr lang="en-US" sz="731" dirty="0"/>
          </a:p>
        </p:txBody>
      </p:sp>
      <p:sp>
        <p:nvSpPr>
          <p:cNvPr id="36" name="Shape 34"/>
          <p:cNvSpPr/>
          <p:nvPr/>
        </p:nvSpPr>
        <p:spPr>
          <a:xfrm>
            <a:off x="7036594" y="850106"/>
            <a:ext cx="1878806" cy="5715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25159" y="971550"/>
            <a:ext cx="94728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WebFetch/Search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7792492" y="1160859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网络能力</a:t>
            </a:r>
            <a:endParaRPr lang="en-US" sz="731" dirty="0"/>
          </a:p>
        </p:txBody>
      </p:sp>
      <p:sp>
        <p:nvSpPr>
          <p:cNvPr id="39" name="Shape 37"/>
          <p:cNvSpPr/>
          <p:nvPr/>
        </p:nvSpPr>
        <p:spPr>
          <a:xfrm>
            <a:off x="228600" y="1535906"/>
            <a:ext cx="8686800" cy="564356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228600" y="1535906"/>
            <a:ext cx="857250" cy="564356"/>
          </a:xfrm>
          <a:prstGeom prst="roundRect">
            <a:avLst>
              <a:gd name="adj" fmla="val 4985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6760" y="1750888"/>
            <a:ext cx="346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highlight>
                  <a:srgbClr val="F3F5F9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协作层</a:t>
            </a:r>
            <a:endParaRPr lang="en-US" sz="731" dirty="0"/>
          </a:p>
        </p:txBody>
      </p:sp>
      <p:sp>
        <p:nvSpPr>
          <p:cNvPr id="42" name="Shape 40"/>
          <p:cNvSpPr/>
          <p:nvPr/>
        </p:nvSpPr>
        <p:spPr>
          <a:xfrm>
            <a:off x="1185863" y="1535906"/>
            <a:ext cx="7729538" cy="564356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1185863" y="1535906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10705" y="1650206"/>
            <a:ext cx="87484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TodoWrite/Read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1941761" y="1839516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任务追踪</a:t>
            </a:r>
            <a:endParaRPr lang="en-US" sz="731" dirty="0"/>
          </a:p>
        </p:txBody>
      </p:sp>
      <p:sp>
        <p:nvSpPr>
          <p:cNvPr id="46" name="Shape 44"/>
          <p:cNvSpPr/>
          <p:nvPr/>
        </p:nvSpPr>
        <p:spPr>
          <a:xfrm>
            <a:off x="3136106" y="1535906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32175" y="1650206"/>
            <a:ext cx="53238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SubAgent</a:t>
            </a:r>
            <a:endParaRPr lang="en-US" sz="844" dirty="0"/>
          </a:p>
        </p:txBody>
      </p:sp>
      <p:sp>
        <p:nvSpPr>
          <p:cNvPr id="48" name="Text 46"/>
          <p:cNvSpPr/>
          <p:nvPr/>
        </p:nvSpPr>
        <p:spPr>
          <a:xfrm>
            <a:off x="3846128" y="1839516"/>
            <a:ext cx="50437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委派子任务</a:t>
            </a:r>
            <a:endParaRPr lang="en-US" sz="731" dirty="0"/>
          </a:p>
        </p:txBody>
      </p:sp>
      <p:sp>
        <p:nvSpPr>
          <p:cNvPr id="49" name="Shape 47"/>
          <p:cNvSpPr/>
          <p:nvPr/>
        </p:nvSpPr>
        <p:spPr>
          <a:xfrm>
            <a:off x="5086350" y="1535906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1100" y="1650206"/>
            <a:ext cx="57491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Teammate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5842248" y="1839516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多人协作</a:t>
            </a:r>
            <a:endParaRPr lang="en-US" sz="731" dirty="0"/>
          </a:p>
        </p:txBody>
      </p:sp>
      <p:sp>
        <p:nvSpPr>
          <p:cNvPr id="52" name="Shape 50"/>
          <p:cNvSpPr/>
          <p:nvPr/>
        </p:nvSpPr>
        <p:spPr>
          <a:xfrm>
            <a:off x="7036594" y="1535906"/>
            <a:ext cx="1878806" cy="564356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80437" y="1650206"/>
            <a:ext cx="43684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</a:t>
            </a:r>
            <a:endParaRPr lang="en-US" sz="844" dirty="0"/>
          </a:p>
        </p:txBody>
      </p:sp>
      <p:sp>
        <p:nvSpPr>
          <p:cNvPr id="54" name="Text 52"/>
          <p:cNvSpPr/>
          <p:nvPr/>
        </p:nvSpPr>
        <p:spPr>
          <a:xfrm>
            <a:off x="7746616" y="1839516"/>
            <a:ext cx="50437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交互式任务</a:t>
            </a:r>
            <a:endParaRPr lang="en-US" sz="73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17588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为什么需要 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644514" y="257175"/>
            <a:ext cx="52993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Grep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2128726" y="257175"/>
            <a:ext cx="39643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和 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2479439" y="257175"/>
            <a:ext cx="4158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Ask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2849575" y="257175"/>
            <a:ext cx="25791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？</a:t>
            </a:r>
            <a:endParaRPr lang="en-US" sz="1688" dirty="0"/>
          </a:p>
        </p:txBody>
      </p:sp>
      <p:sp>
        <p:nvSpPr>
          <p:cNvPr id="8" name="Shape 6"/>
          <p:cNvSpPr/>
          <p:nvPr/>
        </p:nvSpPr>
        <p:spPr>
          <a:xfrm>
            <a:off x="228600" y="171450"/>
            <a:ext cx="8686800" cy="185425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228600" y="171450"/>
            <a:ext cx="4293394" cy="1854250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619" y="307181"/>
            <a:ext cx="211874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Grep：构建上下文的关键工具</a:t>
            </a:r>
            <a:endParaRPr lang="en-US" sz="1238" dirty="0"/>
          </a:p>
        </p:txBody>
      </p:sp>
      <p:sp>
        <p:nvSpPr>
          <p:cNvPr id="11" name="Shape 9"/>
          <p:cNvSpPr/>
          <p:nvPr/>
        </p:nvSpPr>
        <p:spPr>
          <a:xfrm>
            <a:off x="378619" y="575742"/>
            <a:ext cx="3993356" cy="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78619" y="640035"/>
            <a:ext cx="253754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面对一个未知的项目，Agent 需要主动搜索代码来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70448" y="640035"/>
            <a:ext cx="61152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构建上下文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36255" y="640035"/>
            <a:ext cx="1589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8619" y="937171"/>
            <a:ext cx="68039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 Grep：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8619" y="937171"/>
            <a:ext cx="3926116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只能通过 Bash 执行 grep 命令，匹配质量不稳定、输出格式难解析、速度慢。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8619" y="1417141"/>
            <a:ext cx="68039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有了 Grep：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8619" y="1417141"/>
            <a:ext cx="396205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结构化搜索结果，支持正则、文件类型过滤、上下文行数、分页。Agent 能高效定位目标代码。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22006" y="171450"/>
            <a:ext cx="4293394" cy="1854250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2025" y="307181"/>
            <a:ext cx="18786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Ask：防止需求漂移的阀门</a:t>
            </a:r>
            <a:endParaRPr lang="en-US" sz="1238" dirty="0"/>
          </a:p>
        </p:txBody>
      </p:sp>
      <p:sp>
        <p:nvSpPr>
          <p:cNvPr id="21" name="Shape 19"/>
          <p:cNvSpPr/>
          <p:nvPr/>
        </p:nvSpPr>
        <p:spPr>
          <a:xfrm>
            <a:off x="4772025" y="575742"/>
            <a:ext cx="3993356" cy="0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4772025" y="640035"/>
            <a:ext cx="400860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用户的需求描述往往模糊或不完整，Agent 如果盲目执行，最终产物可能与用户预期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98393" y="822871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严重漂移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51128" y="822871"/>
            <a:ext cx="1589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2025" y="1120006"/>
            <a:ext cx="6195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 Ask：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45869" y="1120006"/>
            <a:ext cx="310335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猜测意图，做完后发现不是用户想要的，返工成本高。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2025" y="1417141"/>
            <a:ext cx="6195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有了 Ask：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2025" y="1417141"/>
            <a:ext cx="401664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可以在关键决策点征询用户意见，扩展明确需求，避免方向性错误。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35179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+ Edit：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820428" y="257175"/>
            <a:ext cx="13187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想清楚再动手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2002929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81310" y="377279"/>
            <a:ext cx="1118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highlight>
                  <a:srgbClr val="1E3A8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928688" y="335756"/>
            <a:ext cx="2015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工具：先调研，再规划，后执行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928688" y="579983"/>
            <a:ext cx="36384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1246808" y="579983"/>
            <a:ext cx="478224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有时候没想清楚就开始改代码，导致变更不完整、改了 A 漏了 B，且调研过程占用大量上下文。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928688" y="790724"/>
            <a:ext cx="36384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方案：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1246808" y="790724"/>
            <a:ext cx="364728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 Plan 模式 → 只读调研（Read/Grep/Glob）→ 制定自包含执行计划 → 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4848374" y="790724"/>
            <a:ext cx="57580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清空上下文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5378462" y="790724"/>
            <a:ext cx="23410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按计划执行。调研信息不污染执行阶段窗口。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481310" y="1428750"/>
            <a:ext cx="1118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highlight>
                  <a:srgbClr val="1E5E3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928688" y="1387227"/>
            <a:ext cx="18728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Edit 工具：精确替换，非全文覆写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928688" y="1631454"/>
            <a:ext cx="36384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1246808" y="1631454"/>
            <a:ext cx="404878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 工具只能全文覆写文件，对大文件的微小改动效率极低，且容易引入意外修改。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928688" y="1842195"/>
            <a:ext cx="36384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方案：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1246808" y="1842195"/>
            <a:ext cx="6963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Edit 工具基于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1897447" y="1842195"/>
            <a:ext cx="78788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精确字符串匹配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2639616" y="1842195"/>
            <a:ext cx="327101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做局部替换，只发送 diff 而非全文，大幅减少 token 消耗和错误率。</a:t>
            </a:r>
            <a:endParaRPr lang="en-US" sz="84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40" y="394357"/>
            <a:ext cx="9429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1 帧 / 共 4 帧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309442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工作流：先调研，写计划，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3563057" y="257175"/>
            <a:ext cx="13187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清空，再执行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28600" y="178594"/>
            <a:ext cx="114753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问题：LLM 习惯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1330412" y="178594"/>
            <a:ext cx="64133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边想边改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228600" y="178594"/>
            <a:ext cx="4102812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。调研读了 30 个文件，写代码时窗口已无空间。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385763" y="821531"/>
            <a:ext cx="21322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调研阶段读的源码 ≠ 执行阶段要写的代码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763" y="1087189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但都挤在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8498" y="1087189"/>
            <a:ext cx="3852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78049" y="1087189"/>
            <a:ext cx="3852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5763" y="1352848"/>
            <a:ext cx="212176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导致 Agent 改一处忘一处、忘记原始约束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1782812"/>
            <a:ext cx="102943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方案：把调研和执行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1212317" y="1782812"/>
            <a:ext cx="48294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物理隔离</a:t>
            </a:r>
            <a:endParaRPr lang="en-US" sz="844" dirty="0"/>
          </a:p>
        </p:txBody>
      </p:sp>
      <p:sp>
        <p:nvSpPr>
          <p:cNvPr id="17" name="Shape 15"/>
          <p:cNvSpPr/>
          <p:nvPr/>
        </p:nvSpPr>
        <p:spPr>
          <a:xfrm>
            <a:off x="228600" y="4434929"/>
            <a:ext cx="4171950" cy="437108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549229"/>
            <a:ext cx="4137861" cy="307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三阶段：① 只读调研 → ② 写 plan.md + 用户审批 → ③ 清空窗口，只留 plan.md，开始改代码</a:t>
            </a:r>
            <a:endParaRPr lang="en-US" sz="788" dirty="0"/>
          </a:p>
        </p:txBody>
      </p:sp>
      <p:sp>
        <p:nvSpPr>
          <p:cNvPr id="19" name="Shape 17"/>
          <p:cNvSpPr/>
          <p:nvPr/>
        </p:nvSpPr>
        <p:spPr>
          <a:xfrm>
            <a:off x="474345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4743450" y="171450"/>
            <a:ext cx="4171950" cy="2059186"/>
          </a:xfrm>
          <a:prstGeom prst="roundRect">
            <a:avLst>
              <a:gd name="adj" fmla="val 1366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9181" y="307181"/>
            <a:ext cx="3900488" cy="1787723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5330354" y="701873"/>
            <a:ext cx="36227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 调研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5061682" y="871538"/>
            <a:ext cx="8996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 · Grep · Glob</a:t>
            </a:r>
            <a:endParaRPr lang="en-US" sz="563" dirty="0"/>
          </a:p>
        </p:txBody>
      </p:sp>
      <p:sp>
        <p:nvSpPr>
          <p:cNvPr id="24" name="Text 22"/>
          <p:cNvSpPr/>
          <p:nvPr/>
        </p:nvSpPr>
        <p:spPr>
          <a:xfrm>
            <a:off x="5328735" y="1034058"/>
            <a:ext cx="3655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只读模式</a:t>
            </a:r>
            <a:endParaRPr lang="en-US" sz="563" dirty="0"/>
          </a:p>
        </p:txBody>
      </p:sp>
      <p:sp>
        <p:nvSpPr>
          <p:cNvPr id="25" name="Text 23"/>
          <p:cNvSpPr/>
          <p:nvPr/>
        </p:nvSpPr>
        <p:spPr>
          <a:xfrm>
            <a:off x="5227718" y="1359098"/>
            <a:ext cx="56754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window: 60%</a:t>
            </a:r>
            <a:endParaRPr lang="en-US" sz="563" dirty="0"/>
          </a:p>
        </p:txBody>
      </p:sp>
      <p:sp>
        <p:nvSpPr>
          <p:cNvPr id="26" name="Text 24"/>
          <p:cNvSpPr/>
          <p:nvPr/>
        </p:nvSpPr>
        <p:spPr>
          <a:xfrm>
            <a:off x="6505891" y="701873"/>
            <a:ext cx="69278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 写 plan.md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6549647" y="871538"/>
            <a:ext cx="60527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自包含执行计划</a:t>
            </a:r>
            <a:endParaRPr lang="en-US" sz="563" dirty="0"/>
          </a:p>
        </p:txBody>
      </p:sp>
      <p:sp>
        <p:nvSpPr>
          <p:cNvPr id="28" name="Text 26"/>
          <p:cNvSpPr/>
          <p:nvPr/>
        </p:nvSpPr>
        <p:spPr>
          <a:xfrm>
            <a:off x="6669528" y="1034058"/>
            <a:ext cx="3655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用户审批</a:t>
            </a:r>
            <a:endParaRPr lang="en-US" sz="563" dirty="0"/>
          </a:p>
        </p:txBody>
      </p:sp>
      <p:sp>
        <p:nvSpPr>
          <p:cNvPr id="29" name="Text 27"/>
          <p:cNvSpPr/>
          <p:nvPr/>
        </p:nvSpPr>
        <p:spPr>
          <a:xfrm>
            <a:off x="6568511" y="1359098"/>
            <a:ext cx="56754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window: 65%</a:t>
            </a:r>
            <a:endParaRPr lang="en-US" sz="563" dirty="0"/>
          </a:p>
        </p:txBody>
      </p:sp>
      <p:sp>
        <p:nvSpPr>
          <p:cNvPr id="30" name="Text 28"/>
          <p:cNvSpPr/>
          <p:nvPr/>
        </p:nvSpPr>
        <p:spPr>
          <a:xfrm>
            <a:off x="8011939" y="701873"/>
            <a:ext cx="36227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 执行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7719547" y="871538"/>
            <a:ext cx="94706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 · Write · Test</a:t>
            </a:r>
            <a:endParaRPr lang="en-US" sz="563" dirty="0"/>
          </a:p>
        </p:txBody>
      </p:sp>
      <p:sp>
        <p:nvSpPr>
          <p:cNvPr id="32" name="Text 30"/>
          <p:cNvSpPr/>
          <p:nvPr/>
        </p:nvSpPr>
        <p:spPr>
          <a:xfrm>
            <a:off x="7860581" y="1034058"/>
            <a:ext cx="66499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仅保留 plan.md</a:t>
            </a:r>
            <a:endParaRPr lang="en-US" sz="563" dirty="0"/>
          </a:p>
        </p:txBody>
      </p:sp>
      <p:sp>
        <p:nvSpPr>
          <p:cNvPr id="33" name="Text 31"/>
          <p:cNvSpPr/>
          <p:nvPr/>
        </p:nvSpPr>
        <p:spPr>
          <a:xfrm>
            <a:off x="7909303" y="1359098"/>
            <a:ext cx="56754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window: 12%</a:t>
            </a:r>
            <a:endParaRPr lang="en-US" sz="563" dirty="0"/>
          </a:p>
        </p:txBody>
      </p:sp>
      <p:sp>
        <p:nvSpPr>
          <p:cNvPr id="34" name="Text 32"/>
          <p:cNvSpPr/>
          <p:nvPr/>
        </p:nvSpPr>
        <p:spPr>
          <a:xfrm>
            <a:off x="7313470" y="1684139"/>
            <a:ext cx="37779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CLEAR ↑</a:t>
            </a:r>
            <a:endParaRPr lang="en-US" sz="563" dirty="0"/>
          </a:p>
        </p:txBody>
      </p:sp>
      <p:sp>
        <p:nvSpPr>
          <p:cNvPr id="35" name="Text 33"/>
          <p:cNvSpPr/>
          <p:nvPr/>
        </p:nvSpPr>
        <p:spPr>
          <a:xfrm>
            <a:off x="7264133" y="1820317"/>
            <a:ext cx="47646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调研窗口丢弃</a:t>
            </a:r>
            <a:endParaRPr lang="en-US" sz="506" dirty="0"/>
          </a:p>
        </p:txBody>
      </p:sp>
      <p:sp>
        <p:nvSpPr>
          <p:cNvPr id="36" name="Text 34"/>
          <p:cNvSpPr/>
          <p:nvPr/>
        </p:nvSpPr>
        <p:spPr>
          <a:xfrm>
            <a:off x="228600" y="4887776"/>
            <a:ext cx="108279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#plan #three-phases</a:t>
            </a:r>
            <a:endParaRPr lang="en-US" sz="73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40" y="394357"/>
            <a:ext cx="9429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2 帧 / 共 4 帧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273924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第一阶段：进入 Plan 模式，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3207879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只读调研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28600" y="178594"/>
            <a:ext cx="378000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用户提出重构需求 → Agent 进入 Plan 模式 → 工具集被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228600" y="178594"/>
            <a:ext cx="4077809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限制为只读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675308" y="403622"/>
            <a:ext cx="19462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385763" y="821531"/>
            <a:ext cx="19839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能用 Read / Grep / Glob / WebFetch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763" y="1087189"/>
            <a:ext cx="2720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130" y="1087189"/>
            <a:ext cx="145739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Edit / Write / Bash 写命令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5763" y="1352848"/>
            <a:ext cx="21779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目的：让窗口装满"理解"，但不产生副作用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4599905"/>
            <a:ext cx="4171950" cy="272132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714205"/>
            <a:ext cx="2295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窗口已涨到 60% —— 这是 Plan 阶段的正常代价。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474345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4743450" y="171450"/>
            <a:ext cx="4171950" cy="4592092"/>
          </a:xfrm>
          <a:prstGeom prst="roundRect">
            <a:avLst>
              <a:gd name="adj" fmla="val 674"/>
            </a:avLst>
          </a:prstGeom>
          <a:solidFill>
            <a:srgbClr val="FBFBFB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0594" y="178594"/>
            <a:ext cx="4157663" cy="267109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850606" y="250031"/>
            <a:ext cx="1629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jcli plan-mode · session #78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8299028" y="250031"/>
            <a:ext cx="5549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read-only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4750594" y="445703"/>
            <a:ext cx="4157663" cy="431069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4864894" y="545716"/>
            <a:ext cx="3929063" cy="496379"/>
          </a:xfrm>
          <a:prstGeom prst="roundRect">
            <a:avLst>
              <a:gd name="adj" fmla="val 5668"/>
            </a:avLst>
          </a:prstGeom>
          <a:solidFill>
            <a:srgbClr val="FBFDF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9194" y="638584"/>
            <a:ext cx="25947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4979194" y="807802"/>
            <a:ext cx="355140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把 ChatApp 拆分成 UIState 和 ChatState，55 个字段太挤了，难维护。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4864894" y="1127820"/>
            <a:ext cx="3929063" cy="694953"/>
          </a:xfrm>
          <a:prstGeom prst="roundRect">
            <a:avLst>
              <a:gd name="adj" fmla="val 4049"/>
            </a:avLst>
          </a:prstGeom>
          <a:solidFill>
            <a:srgbClr val="FBFC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9194" y="1220688"/>
            <a:ext cx="31294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7828099" y="1234976"/>
            <a:ext cx="84727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 plan-mode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4979194" y="1418481"/>
            <a:ext cx="3713701" cy="29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进入 Plan 模式。先调研：app.rs 当前结构、所有引用 ChatApp 字段的位置、handler 模块依赖。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4864894" y="1908497"/>
            <a:ext cx="3929063" cy="503523"/>
          </a:xfrm>
          <a:prstGeom prst="roundRect">
            <a:avLst>
              <a:gd name="adj" fmla="val 5588"/>
            </a:avLst>
          </a:prstGeom>
          <a:solidFill>
            <a:srgbClr val="FDFCF8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9194" y="2001366"/>
            <a:ext cx="5266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CALL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7934920" y="2015654"/>
            <a:ext cx="7404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 · app.rs</a:t>
            </a:r>
            <a:endParaRPr lang="en-US" sz="619" dirty="0"/>
          </a:p>
        </p:txBody>
      </p:sp>
      <p:sp>
        <p:nvSpPr>
          <p:cNvPr id="32" name="Text 30"/>
          <p:cNvSpPr/>
          <p:nvPr/>
        </p:nvSpPr>
        <p:spPr>
          <a:xfrm>
            <a:off x="4979194" y="2192015"/>
            <a:ext cx="149143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取 1..300 行（结构定义与方法）</a:t>
            </a:r>
            <a:endParaRPr lang="en-US" sz="731" dirty="0"/>
          </a:p>
        </p:txBody>
      </p:sp>
      <p:sp>
        <p:nvSpPr>
          <p:cNvPr id="33" name="Shape 31"/>
          <p:cNvSpPr/>
          <p:nvPr/>
        </p:nvSpPr>
        <p:spPr>
          <a:xfrm>
            <a:off x="4864894" y="2497745"/>
            <a:ext cx="3929063" cy="503523"/>
          </a:xfrm>
          <a:prstGeom prst="roundRect">
            <a:avLst>
              <a:gd name="adj" fmla="val 5588"/>
            </a:avLst>
          </a:prstGeom>
          <a:solidFill>
            <a:srgbClr val="FDFCF8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9194" y="2590614"/>
            <a:ext cx="5266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CALL</a:t>
            </a:r>
            <a:endParaRPr lang="en-US" sz="619" dirty="0"/>
          </a:p>
        </p:txBody>
      </p:sp>
      <p:sp>
        <p:nvSpPr>
          <p:cNvPr id="35" name="Text 33"/>
          <p:cNvSpPr/>
          <p:nvPr/>
        </p:nvSpPr>
        <p:spPr>
          <a:xfrm>
            <a:off x="7774632" y="2604901"/>
            <a:ext cx="9007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Grep · "app.ui_"</a:t>
            </a:r>
            <a:endParaRPr lang="en-US" sz="619" dirty="0"/>
          </a:p>
        </p:txBody>
      </p:sp>
      <p:sp>
        <p:nvSpPr>
          <p:cNvPr id="36" name="Text 34"/>
          <p:cNvSpPr/>
          <p:nvPr/>
        </p:nvSpPr>
        <p:spPr>
          <a:xfrm>
            <a:off x="4979194" y="2781263"/>
            <a:ext cx="15610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76 处匹配，集中在 handler/ ui/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4864894" y="3086993"/>
            <a:ext cx="3929063" cy="503523"/>
          </a:xfrm>
          <a:prstGeom prst="roundRect">
            <a:avLst>
              <a:gd name="adj" fmla="val 5588"/>
            </a:avLst>
          </a:prstGeom>
          <a:solidFill>
            <a:srgbClr val="FDFCF8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9194" y="3179862"/>
            <a:ext cx="5266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CALL</a:t>
            </a:r>
            <a:endParaRPr lang="en-US" sz="619" dirty="0"/>
          </a:p>
        </p:txBody>
      </p:sp>
      <p:sp>
        <p:nvSpPr>
          <p:cNvPr id="39" name="Text 37"/>
          <p:cNvSpPr/>
          <p:nvPr/>
        </p:nvSpPr>
        <p:spPr>
          <a:xfrm>
            <a:off x="7614345" y="3194149"/>
            <a:ext cx="106102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Grep · "app.state_"</a:t>
            </a:r>
            <a:endParaRPr lang="en-US" sz="619" dirty="0"/>
          </a:p>
        </p:txBody>
      </p:sp>
      <p:sp>
        <p:nvSpPr>
          <p:cNvPr id="40" name="Text 38"/>
          <p:cNvSpPr/>
          <p:nvPr/>
        </p:nvSpPr>
        <p:spPr>
          <a:xfrm>
            <a:off x="4979194" y="3370511"/>
            <a:ext cx="205233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处匹配，集中在 agent.rs · compact.rs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4743450" y="4842123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8160953" y="4842123"/>
            <a:ext cx="800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60% · plan-mode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5166940" y="4882083"/>
            <a:ext cx="2922575" cy="42863"/>
          </a:xfrm>
          <a:prstGeom prst="rect">
            <a:avLst/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74084" y="4889227"/>
            <a:ext cx="1744973" cy="28575"/>
          </a:xfrm>
          <a:prstGeom prst="rect">
            <a:avLst/>
          </a:prstGeom>
          <a:solidFill>
            <a:srgbClr val="7A5B00"/>
          </a:solidFill>
          <a:ln/>
        </p:spPr>
      </p:sp>
      <p:sp>
        <p:nvSpPr>
          <p:cNvPr id="45" name="Text 43"/>
          <p:cNvSpPr/>
          <p:nvPr/>
        </p:nvSpPr>
        <p:spPr>
          <a:xfrm>
            <a:off x="228600" y="4887776"/>
            <a:ext cx="8644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#plan #research</a:t>
            </a:r>
            <a:endParaRPr lang="en-US" sz="73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40" y="394357"/>
            <a:ext cx="9429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3 帧 / 共 4 帧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260530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第二阶段：输出 plan.md，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3073933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用户审批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28600" y="178594"/>
            <a:ext cx="64133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调研结论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824210" y="178594"/>
            <a:ext cx="3435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1122015" y="178594"/>
            <a:ext cx="257661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为一份执行计划，由用户在终端里直接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3652912" y="178594"/>
            <a:ext cx="49242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三选一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4099620" y="178594"/>
            <a:ext cx="19462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181" dirty="0"/>
          </a:p>
        </p:txBody>
      </p:sp>
      <p:sp>
        <p:nvSpPr>
          <p:cNvPr id="12" name="Text 10"/>
          <p:cNvSpPr/>
          <p:nvPr/>
        </p:nvSpPr>
        <p:spPr>
          <a:xfrm>
            <a:off x="385763" y="596503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批准计划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8498" y="596503"/>
            <a:ext cx="15167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：保留当前上下文，开始实施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5763" y="862161"/>
            <a:ext cx="95107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批准并清空上下文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91121" y="862161"/>
            <a:ext cx="17431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：仅保留计划，丢弃所有调研产物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5763" y="1127820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驳回计划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8498" y="1127820"/>
            <a:ext cx="14657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：留在 Plan Mode 修改方案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4434929"/>
            <a:ext cx="4171950" cy="437108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4549229"/>
            <a:ext cx="3861710" cy="307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右图是真实运行时的审批界面 —— 注意顶部 SubAgents 行（已派子 Agent 做调研）和 context 计数。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474345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743450" y="171450"/>
            <a:ext cx="4171950" cy="2535138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pic>
        <p:nvPicPr>
          <p:cNvPr id="22" name="Image 0" descr="file:///Users/jacklingo/dev_custom/j/presentation/ppt/pics/plan-mode-clear-and-approv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0594" y="178594"/>
            <a:ext cx="4157663" cy="227372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750594" y="2452315"/>
            <a:ext cx="4157663" cy="247129"/>
          </a:xfrm>
          <a:prstGeom prst="rect">
            <a:avLst/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36319" y="2523753"/>
            <a:ext cx="360866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jcli plan-mode 真实截图 · 含 SubAgent 调研、计划清单、批准/清空上下文 / 驳回三选项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743450" y="2785170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7923200" y="2785170"/>
            <a:ext cx="103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36K tokens · 等待审批</a:t>
            </a:r>
            <a:endParaRPr lang="en-US" sz="675" dirty="0"/>
          </a:p>
        </p:txBody>
      </p:sp>
      <p:sp>
        <p:nvSpPr>
          <p:cNvPr id="27" name="Shape 24"/>
          <p:cNvSpPr/>
          <p:nvPr/>
        </p:nvSpPr>
        <p:spPr>
          <a:xfrm>
            <a:off x="5166940" y="2825130"/>
            <a:ext cx="2684822" cy="42863"/>
          </a:xfrm>
          <a:prstGeom prst="rect">
            <a:avLst/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74084" y="2832274"/>
            <a:ext cx="1735820" cy="28575"/>
          </a:xfrm>
          <a:prstGeom prst="rect">
            <a:avLst/>
          </a:prstGeom>
          <a:solidFill>
            <a:srgbClr val="7A5B00"/>
          </a:solidFill>
          <a:ln/>
        </p:spPr>
      </p:sp>
      <p:sp>
        <p:nvSpPr>
          <p:cNvPr id="29" name="Text 26"/>
          <p:cNvSpPr/>
          <p:nvPr/>
        </p:nvSpPr>
        <p:spPr>
          <a:xfrm>
            <a:off x="228600" y="4887776"/>
            <a:ext cx="8644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#plan #approval</a:t>
            </a:r>
            <a:endParaRPr lang="en-US" sz="73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40" y="394357"/>
            <a:ext cx="9429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4 帧 / 共 4 帧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第三阶段：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575308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清空窗口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2424075" y="257175"/>
            <a:ext cx="218092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，只留 plan.md，开干</a:t>
            </a:r>
            <a:endParaRPr lang="en-US" sz="1688" dirty="0"/>
          </a:p>
        </p:txBody>
      </p:sp>
      <p:sp>
        <p:nvSpPr>
          <p:cNvPr id="6" name="Shape 4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28600" y="178594"/>
            <a:ext cx="91513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窗口从 65% 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1098017" y="178594"/>
            <a:ext cx="68988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回到 12%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1742182" y="178594"/>
            <a:ext cx="264392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：调研产生的 30+ 工具结果全部丢弃。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385763" y="596503"/>
            <a:ext cx="19644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重新启动，上下文只含 plan.md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5763" y="862161"/>
            <a:ext cx="72471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工具集恢复为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4754" y="862161"/>
            <a:ext cx="3852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04305" y="862161"/>
            <a:ext cx="127042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（Edit / Write / Bash）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5763" y="1127820"/>
            <a:ext cx="15167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不再有调研中间产物干扰决策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1557784"/>
            <a:ext cx="103959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这就是 idea 里说的 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1222474" y="1557784"/>
            <a:ext cx="8889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clear &amp; approve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2065660" y="1557784"/>
            <a:ext cx="3022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机制</a:t>
            </a:r>
            <a:endParaRPr lang="en-US" sz="844" dirty="0"/>
          </a:p>
        </p:txBody>
      </p:sp>
      <p:sp>
        <p:nvSpPr>
          <p:cNvPr id="19" name="Shape 17"/>
          <p:cNvSpPr/>
          <p:nvPr/>
        </p:nvSpPr>
        <p:spPr>
          <a:xfrm>
            <a:off x="228600" y="4599905"/>
            <a:ext cx="4171950" cy="272132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4714205"/>
            <a:ext cx="29273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代价：忘掉调研细节 / 收益：执行阶段窗口干净，错误率显著下降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474345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4743450" y="171450"/>
            <a:ext cx="4171950" cy="4592092"/>
          </a:xfrm>
          <a:prstGeom prst="roundRect">
            <a:avLst>
              <a:gd name="adj" fmla="val 674"/>
            </a:avLst>
          </a:prstGeom>
          <a:solidFill>
            <a:srgbClr val="FBFBFB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0594" y="178594"/>
            <a:ext cx="4157663" cy="267109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850606" y="250031"/>
            <a:ext cx="2082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execute-mode · session #78 (new ctx)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8242436" y="250031"/>
            <a:ext cx="6115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tools</a:t>
            </a:r>
            <a:endParaRPr lang="en-US" sz="675" dirty="0"/>
          </a:p>
        </p:txBody>
      </p:sp>
      <p:sp>
        <p:nvSpPr>
          <p:cNvPr id="26" name="Shape 24"/>
          <p:cNvSpPr/>
          <p:nvPr/>
        </p:nvSpPr>
        <p:spPr>
          <a:xfrm>
            <a:off x="4750594" y="445703"/>
            <a:ext cx="4157663" cy="4310695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4864894" y="545716"/>
            <a:ext cx="3929063" cy="524954"/>
          </a:xfrm>
          <a:prstGeom prst="roundRect">
            <a:avLst>
              <a:gd name="adj" fmla="val 5360"/>
            </a:avLst>
          </a:prstGeom>
          <a:solidFill>
            <a:srgbClr val="FBFC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9194" y="638584"/>
            <a:ext cx="36640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</a:t>
            </a:r>
            <a:endParaRPr lang="en-US" sz="619" dirty="0"/>
          </a:p>
        </p:txBody>
      </p:sp>
      <p:sp>
        <p:nvSpPr>
          <p:cNvPr id="29" name="Text 27"/>
          <p:cNvSpPr/>
          <p:nvPr/>
        </p:nvSpPr>
        <p:spPr>
          <a:xfrm>
            <a:off x="7828099" y="652872"/>
            <a:ext cx="84727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cleared</a:t>
            </a:r>
            <a:endParaRPr lang="en-US" sz="619" dirty="0"/>
          </a:p>
        </p:txBody>
      </p:sp>
      <p:sp>
        <p:nvSpPr>
          <p:cNvPr id="30" name="Text 28"/>
          <p:cNvSpPr/>
          <p:nvPr/>
        </p:nvSpPr>
        <p:spPr>
          <a:xfrm>
            <a:off x="4979194" y="836377"/>
            <a:ext cx="337705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上下文已清空。仅保留 plan.md (~1.2K tokens)。可使用完整工具集。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4864894" y="1156395"/>
            <a:ext cx="3929063" cy="524954"/>
          </a:xfrm>
          <a:prstGeom prst="roundRect">
            <a:avLst>
              <a:gd name="adj" fmla="val 5360"/>
            </a:avLst>
          </a:prstGeom>
          <a:solidFill>
            <a:srgbClr val="FBFC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9194" y="1249263"/>
            <a:ext cx="31294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</a:t>
            </a:r>
            <a:endParaRPr lang="en-US" sz="619" dirty="0"/>
          </a:p>
        </p:txBody>
      </p:sp>
      <p:sp>
        <p:nvSpPr>
          <p:cNvPr id="33" name="Text 31"/>
          <p:cNvSpPr/>
          <p:nvPr/>
        </p:nvSpPr>
        <p:spPr>
          <a:xfrm>
            <a:off x="8202141" y="1263551"/>
            <a:ext cx="47322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1/5</a:t>
            </a:r>
            <a:endParaRPr lang="en-US" sz="619" dirty="0"/>
          </a:p>
        </p:txBody>
      </p:sp>
      <p:sp>
        <p:nvSpPr>
          <p:cNvPr id="34" name="Text 32"/>
          <p:cNvSpPr/>
          <p:nvPr/>
        </p:nvSpPr>
        <p:spPr>
          <a:xfrm>
            <a:off x="4979194" y="1447056"/>
            <a:ext cx="21294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按 plan.md step 1：创建 ui_state.rs。</a:t>
            </a:r>
            <a:endParaRPr lang="en-US" sz="788" dirty="0"/>
          </a:p>
        </p:txBody>
      </p:sp>
      <p:sp>
        <p:nvSpPr>
          <p:cNvPr id="35" name="Shape 33"/>
          <p:cNvSpPr/>
          <p:nvPr/>
        </p:nvSpPr>
        <p:spPr>
          <a:xfrm>
            <a:off x="4864894" y="1767074"/>
            <a:ext cx="3929063" cy="652090"/>
          </a:xfrm>
          <a:prstGeom prst="roundRect">
            <a:avLst>
              <a:gd name="adj" fmla="val 4315"/>
            </a:avLst>
          </a:prstGeom>
          <a:solidFill>
            <a:srgbClr val="FDFCF8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9194" y="1859942"/>
            <a:ext cx="5266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CALL</a:t>
            </a:r>
            <a:endParaRPr lang="en-US" sz="619" dirty="0"/>
          </a:p>
        </p:txBody>
      </p:sp>
      <p:sp>
        <p:nvSpPr>
          <p:cNvPr id="37" name="Text 35"/>
          <p:cNvSpPr/>
          <p:nvPr/>
        </p:nvSpPr>
        <p:spPr>
          <a:xfrm>
            <a:off x="8362429" y="1874230"/>
            <a:ext cx="31294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endParaRPr lang="en-US" sz="619" dirty="0"/>
          </a:p>
        </p:txBody>
      </p:sp>
      <p:sp>
        <p:nvSpPr>
          <p:cNvPr id="38" name="Text 36"/>
          <p:cNvSpPr/>
          <p:nvPr/>
        </p:nvSpPr>
        <p:spPr>
          <a:xfrm>
            <a:off x="4979194" y="2050591"/>
            <a:ext cx="53696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file_path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5470438" y="2050591"/>
            <a:ext cx="168309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src/command/chat/ui_state.rs
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4979194" y="2199159"/>
            <a:ext cx="42779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5361273" y="2199159"/>
            <a:ext cx="222891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pub struct UIState { /* 55 fields */ }</a:t>
            </a:r>
            <a:endParaRPr lang="en-US" sz="731" dirty="0"/>
          </a:p>
        </p:txBody>
      </p:sp>
      <p:sp>
        <p:nvSpPr>
          <p:cNvPr id="42" name="Shape 40"/>
          <p:cNvSpPr/>
          <p:nvPr/>
        </p:nvSpPr>
        <p:spPr>
          <a:xfrm>
            <a:off x="4864894" y="2504889"/>
            <a:ext cx="3929063" cy="474948"/>
          </a:xfrm>
          <a:prstGeom prst="roundRect">
            <a:avLst>
              <a:gd name="adj" fmla="val 5924"/>
            </a:avLst>
          </a:prstGeom>
          <a:solidFill>
            <a:srgbClr val="FAFAFA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9194" y="2597758"/>
            <a:ext cx="63351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RESULT</a:t>
            </a:r>
            <a:endParaRPr lang="en-US" sz="619" dirty="0"/>
          </a:p>
        </p:txBody>
      </p:sp>
      <p:sp>
        <p:nvSpPr>
          <p:cNvPr id="44" name="Text 42"/>
          <p:cNvSpPr/>
          <p:nvPr/>
        </p:nvSpPr>
        <p:spPr>
          <a:xfrm>
            <a:off x="4979194" y="2759832"/>
            <a:ext cx="91904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 89 lines</a:t>
            </a:r>
            <a:endParaRPr lang="en-US" sz="731" dirty="0"/>
          </a:p>
        </p:txBody>
      </p:sp>
      <p:sp>
        <p:nvSpPr>
          <p:cNvPr id="45" name="Shape 43"/>
          <p:cNvSpPr/>
          <p:nvPr/>
        </p:nvSpPr>
        <p:spPr>
          <a:xfrm>
            <a:off x="4864894" y="3065562"/>
            <a:ext cx="3929063" cy="524954"/>
          </a:xfrm>
          <a:prstGeom prst="roundRect">
            <a:avLst>
              <a:gd name="adj" fmla="val 5360"/>
            </a:avLst>
          </a:prstGeom>
          <a:solidFill>
            <a:srgbClr val="FBFC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79194" y="3158430"/>
            <a:ext cx="31294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</a:t>
            </a:r>
            <a:endParaRPr lang="en-US" sz="619" dirty="0"/>
          </a:p>
        </p:txBody>
      </p:sp>
      <p:sp>
        <p:nvSpPr>
          <p:cNvPr id="47" name="Text 45"/>
          <p:cNvSpPr/>
          <p:nvPr/>
        </p:nvSpPr>
        <p:spPr>
          <a:xfrm>
            <a:off x="8202141" y="3172718"/>
            <a:ext cx="47322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2/5</a:t>
            </a:r>
            <a:endParaRPr lang="en-US" sz="619" dirty="0"/>
          </a:p>
        </p:txBody>
      </p:sp>
      <p:sp>
        <p:nvSpPr>
          <p:cNvPr id="48" name="Text 46"/>
          <p:cNvSpPr/>
          <p:nvPr/>
        </p:nvSpPr>
        <p:spPr>
          <a:xfrm>
            <a:off x="4979194" y="3356223"/>
            <a:ext cx="264035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1 done. 进行 step 2：创建 chat_state.rs。</a:t>
            </a:r>
            <a:endParaRPr lang="en-US" sz="788" dirty="0"/>
          </a:p>
        </p:txBody>
      </p:sp>
      <p:sp>
        <p:nvSpPr>
          <p:cNvPr id="49" name="Text 47"/>
          <p:cNvSpPr/>
          <p:nvPr/>
        </p:nvSpPr>
        <p:spPr>
          <a:xfrm>
            <a:off x="4743450" y="4842123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8010041" y="4842123"/>
            <a:ext cx="9510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12% · clean window</a:t>
            </a:r>
            <a:endParaRPr lang="en-US" sz="675" dirty="0"/>
          </a:p>
        </p:txBody>
      </p:sp>
      <p:sp>
        <p:nvSpPr>
          <p:cNvPr id="51" name="Shape 49"/>
          <p:cNvSpPr/>
          <p:nvPr/>
        </p:nvSpPr>
        <p:spPr>
          <a:xfrm>
            <a:off x="5166940" y="4882083"/>
            <a:ext cx="2771663" cy="42863"/>
          </a:xfrm>
          <a:prstGeom prst="rect">
            <a:avLst/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74084" y="4889227"/>
            <a:ext cx="330845" cy="2857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" y="4887776"/>
            <a:ext cx="113737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#plan #clear-context</a:t>
            </a:r>
            <a:endParaRPr lang="en-US" sz="73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7627" y="394357"/>
            <a:ext cx="194774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同步 · 异步 · 交互 —— 由运行时智能流转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执行模型的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575308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三种形态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28600" y="178594"/>
            <a:ext cx="183232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一条命令怎么跑，取决于它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2015207" y="178594"/>
            <a:ext cx="49242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跑多久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2461915" y="178594"/>
            <a:ext cx="19462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、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2610817" y="178594"/>
            <a:ext cx="88734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要不要 stdin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3452440" y="178594"/>
            <a:ext cx="19462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181" dirty="0"/>
          </a:p>
        </p:txBody>
      </p:sp>
      <p:sp>
        <p:nvSpPr>
          <p:cNvPr id="12" name="Text 10"/>
          <p:cNvSpPr/>
          <p:nvPr/>
        </p:nvSpPr>
        <p:spPr>
          <a:xfrm>
            <a:off x="228600" y="403622"/>
            <a:ext cx="214006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不必预判 —— 入口都是 </a:t>
            </a:r>
            <a:endParaRPr lang="en-US" sz="1181" dirty="0"/>
          </a:p>
        </p:txBody>
      </p:sp>
      <p:sp>
        <p:nvSpPr>
          <p:cNvPr id="13" name="Text 11"/>
          <p:cNvSpPr/>
          <p:nvPr/>
        </p:nvSpPr>
        <p:spPr>
          <a:xfrm>
            <a:off x="2365809" y="425053"/>
            <a:ext cx="36529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3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</a:t>
            </a:r>
            <a:endParaRPr lang="en-US" sz="1063" dirty="0"/>
          </a:p>
        </p:txBody>
      </p:sp>
      <p:sp>
        <p:nvSpPr>
          <p:cNvPr id="14" name="Text 12"/>
          <p:cNvSpPr/>
          <p:nvPr/>
        </p:nvSpPr>
        <p:spPr>
          <a:xfrm>
            <a:off x="228600" y="403622"/>
            <a:ext cx="4183067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，运行时自动落到对的形态。</a:t>
            </a:r>
            <a:endParaRPr lang="en-US" sz="1181" dirty="0"/>
          </a:p>
        </p:txBody>
      </p:sp>
      <p:sp>
        <p:nvSpPr>
          <p:cNvPr id="15" name="Text 13"/>
          <p:cNvSpPr/>
          <p:nvPr/>
        </p:nvSpPr>
        <p:spPr>
          <a:xfrm>
            <a:off x="385763" y="1046559"/>
            <a:ext cx="66756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Bash · 同步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7604" y="1046559"/>
            <a:ext cx="27173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默认 120s（最大 600s）阻塞返回 stdout/stderr。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22117" y="1060847"/>
            <a:ext cx="16694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ls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886200" y="1046559"/>
            <a:ext cx="1756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5763" y="1060847"/>
            <a:ext cx="4021887" cy="358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 check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731565" y="1269355"/>
            <a:ext cx="85452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短命令首选。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5763" y="1535013"/>
            <a:ext cx="129822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BackgroundTask · 异步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38263" y="1535013"/>
            <a:ext cx="1756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11052" y="1549301"/>
            <a:ext cx="137847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run_in_background:true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186671" y="1535013"/>
            <a:ext cx="11666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立即返回 task_id；用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8625" y="1772096"/>
            <a:ext cx="65159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TaskOutput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1077367" y="1757809"/>
            <a:ext cx="132746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阻塞等待或非阻塞查询。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01974" y="1772096"/>
            <a:ext cx="71209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 build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3111215" y="1757809"/>
            <a:ext cx="82405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dev server。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763" y="2023467"/>
            <a:ext cx="81958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 · 交互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9632" y="2023467"/>
            <a:ext cx="1756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32421" y="2037755"/>
            <a:ext cx="101503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interactive:true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2344601" y="2023467"/>
            <a:ext cx="15024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走 PTY 启动，返回 sid；用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4230" y="2037755"/>
            <a:ext cx="46988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</a:t>
            </a:r>
            <a:endParaRPr lang="en-US" sz="810" dirty="0"/>
          </a:p>
        </p:txBody>
      </p:sp>
      <p:sp>
        <p:nvSpPr>
          <p:cNvPr id="34" name="Text 32"/>
          <p:cNvSpPr/>
          <p:nvPr/>
        </p:nvSpPr>
        <p:spPr>
          <a:xfrm>
            <a:off x="385763" y="2246263"/>
            <a:ext cx="30903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工具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1939" y="2260550"/>
            <a:ext cx="131797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stdin / stdout / quit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2007059" y="2246263"/>
            <a:ext cx="198591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双向操作。REPL · 需 y 确认的安装。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" y="2676227"/>
            <a:ext cx="81088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运行时自动流转</a:t>
            </a:r>
            <a:endParaRPr lang="en-US" sz="844" dirty="0"/>
          </a:p>
        </p:txBody>
      </p:sp>
      <p:sp>
        <p:nvSpPr>
          <p:cNvPr id="38" name="Shape 36"/>
          <p:cNvSpPr/>
          <p:nvPr/>
        </p:nvSpPr>
        <p:spPr>
          <a:xfrm>
            <a:off x="228600" y="4269953"/>
            <a:ext cx="4171950" cy="602084"/>
          </a:xfrm>
          <a:prstGeom prst="rect">
            <a:avLst/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384253"/>
            <a:ext cx="1619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同步 Bash 跑过 30s 仍未结束 —— 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1802569" y="4384253"/>
            <a:ext cx="3057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 kill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2062646" y="4384253"/>
            <a:ext cx="144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2204405" y="4398541"/>
            <a:ext cx="73297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9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adopt_process</a:t>
            </a:r>
            <a:endParaRPr lang="en-US" sz="709" dirty="0"/>
          </a:p>
        </p:txBody>
      </p:sp>
      <p:sp>
        <p:nvSpPr>
          <p:cNvPr id="43" name="Text 41"/>
          <p:cNvSpPr/>
          <p:nvPr/>
        </p:nvSpPr>
        <p:spPr>
          <a:xfrm>
            <a:off x="228600" y="4384253"/>
            <a:ext cx="4155051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移交 BackgroundManager，立即返回 task_id。但升级前若检测到最近 N 秒完全无输出（静默判交互），则 kill 并提示 Agent 加 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402506" y="4728493"/>
            <a:ext cx="15153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9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-y</a:t>
            </a:r>
            <a:endParaRPr lang="en-US" sz="709" dirty="0"/>
          </a:p>
        </p:txBody>
      </p:sp>
      <p:sp>
        <p:nvSpPr>
          <p:cNvPr id="45" name="Text 43"/>
          <p:cNvSpPr/>
          <p:nvPr/>
        </p:nvSpPr>
        <p:spPr>
          <a:xfrm>
            <a:off x="551185" y="4714205"/>
            <a:ext cx="40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或改用 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955030" y="4728493"/>
            <a:ext cx="8915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9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interactive:true</a:t>
            </a:r>
            <a:endParaRPr lang="en-US" sz="709" dirty="0"/>
          </a:p>
        </p:txBody>
      </p:sp>
      <p:sp>
        <p:nvSpPr>
          <p:cNvPr id="47" name="Text 45"/>
          <p:cNvSpPr/>
          <p:nvPr/>
        </p:nvSpPr>
        <p:spPr>
          <a:xfrm>
            <a:off x="1843757" y="4714205"/>
            <a:ext cx="144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788" dirty="0"/>
          </a:p>
        </p:txBody>
      </p:sp>
      <p:sp>
        <p:nvSpPr>
          <p:cNvPr id="48" name="Shape 46"/>
          <p:cNvSpPr/>
          <p:nvPr/>
        </p:nvSpPr>
        <p:spPr>
          <a:xfrm>
            <a:off x="4743450" y="171450"/>
            <a:ext cx="4171950" cy="4800600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4743450" y="171450"/>
            <a:ext cx="4171950" cy="2806712"/>
          </a:xfrm>
          <a:prstGeom prst="roundRect">
            <a:avLst>
              <a:gd name="adj" fmla="val 1002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79181" y="307181"/>
            <a:ext cx="3900488" cy="2535250"/>
          </a:xfrm>
          <a:prstGeom prst="rect">
            <a:avLst/>
          </a:prstGeom>
          <a:noFill/>
          <a:ln/>
        </p:spPr>
      </p:sp>
      <p:sp>
        <p:nvSpPr>
          <p:cNvPr id="51" name="Text 49"/>
          <p:cNvSpPr/>
          <p:nvPr/>
        </p:nvSpPr>
        <p:spPr>
          <a:xfrm>
            <a:off x="6676058" y="350825"/>
            <a:ext cx="35245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 →</a:t>
            </a:r>
            <a:endParaRPr lang="en-US" sz="506" dirty="0"/>
          </a:p>
        </p:txBody>
      </p:sp>
      <p:sp>
        <p:nvSpPr>
          <p:cNvPr id="52" name="Text 50"/>
          <p:cNvSpPr/>
          <p:nvPr/>
        </p:nvSpPr>
        <p:spPr>
          <a:xfrm>
            <a:off x="4937739" y="668073"/>
            <a:ext cx="736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 · sync</a:t>
            </a:r>
            <a:endParaRPr lang="en-US" sz="619" dirty="0"/>
          </a:p>
        </p:txBody>
      </p:sp>
      <p:sp>
        <p:nvSpPr>
          <p:cNvPr id="53" name="Text 51"/>
          <p:cNvSpPr/>
          <p:nvPr/>
        </p:nvSpPr>
        <p:spPr>
          <a:xfrm>
            <a:off x="5965593" y="684963"/>
            <a:ext cx="33024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</a:t>
            </a:r>
            <a:endParaRPr lang="en-US" sz="563" dirty="0"/>
          </a:p>
        </p:txBody>
      </p:sp>
      <p:sp>
        <p:nvSpPr>
          <p:cNvPr id="54" name="Text 52"/>
          <p:cNvSpPr/>
          <p:nvPr/>
        </p:nvSpPr>
        <p:spPr>
          <a:xfrm>
            <a:off x="6693424" y="684963"/>
            <a:ext cx="78576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poll · ≤ 120s</a:t>
            </a:r>
            <a:endParaRPr lang="en-US" sz="563" dirty="0"/>
          </a:p>
        </p:txBody>
      </p:sp>
      <p:sp>
        <p:nvSpPr>
          <p:cNvPr id="55" name="Text 53"/>
          <p:cNvSpPr/>
          <p:nvPr/>
        </p:nvSpPr>
        <p:spPr>
          <a:xfrm>
            <a:off x="7871033" y="684963"/>
            <a:ext cx="6147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stdout/err</a:t>
            </a:r>
            <a:endParaRPr lang="en-US" sz="563" dirty="0"/>
          </a:p>
        </p:txBody>
      </p:sp>
      <p:sp>
        <p:nvSpPr>
          <p:cNvPr id="56" name="Text 54"/>
          <p:cNvSpPr/>
          <p:nvPr/>
        </p:nvSpPr>
        <p:spPr>
          <a:xfrm>
            <a:off x="6632591" y="916381"/>
            <a:ext cx="90743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快命令：阻塞等完返回</a:t>
            </a:r>
            <a:endParaRPr lang="en-US" sz="506" dirty="0"/>
          </a:p>
        </p:txBody>
      </p:sp>
      <p:sp>
        <p:nvSpPr>
          <p:cNvPr id="57" name="Text 55"/>
          <p:cNvSpPr/>
          <p:nvPr/>
        </p:nvSpPr>
        <p:spPr>
          <a:xfrm>
            <a:off x="7160958" y="1013889"/>
            <a:ext cx="30110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30s</a:t>
            </a:r>
            <a:endParaRPr lang="en-US" sz="506" dirty="0"/>
          </a:p>
        </p:txBody>
      </p:sp>
      <p:sp>
        <p:nvSpPr>
          <p:cNvPr id="58" name="Text 56"/>
          <p:cNvSpPr/>
          <p:nvPr/>
        </p:nvSpPr>
        <p:spPr>
          <a:xfrm>
            <a:off x="7160958" y="1130903"/>
            <a:ext cx="70975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adopt_process</a:t>
            </a:r>
            <a:endParaRPr lang="en-US" sz="506" dirty="0"/>
          </a:p>
        </p:txBody>
      </p:sp>
      <p:sp>
        <p:nvSpPr>
          <p:cNvPr id="59" name="Text 57"/>
          <p:cNvSpPr/>
          <p:nvPr/>
        </p:nvSpPr>
        <p:spPr>
          <a:xfrm>
            <a:off x="7160958" y="1247917"/>
            <a:ext cx="48941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(不 kill)</a:t>
            </a:r>
            <a:endParaRPr lang="en-US" sz="506" dirty="0"/>
          </a:p>
        </p:txBody>
      </p:sp>
      <p:sp>
        <p:nvSpPr>
          <p:cNvPr id="60" name="Text 58"/>
          <p:cNvSpPr/>
          <p:nvPr/>
        </p:nvSpPr>
        <p:spPr>
          <a:xfrm>
            <a:off x="4937739" y="1604163"/>
            <a:ext cx="673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Background</a:t>
            </a:r>
            <a:endParaRPr lang="en-US" sz="619" dirty="0"/>
          </a:p>
        </p:txBody>
      </p:sp>
      <p:sp>
        <p:nvSpPr>
          <p:cNvPr id="61" name="Text 59"/>
          <p:cNvSpPr/>
          <p:nvPr/>
        </p:nvSpPr>
        <p:spPr>
          <a:xfrm>
            <a:off x="5892267" y="1621059"/>
            <a:ext cx="67191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 → tid</a:t>
            </a:r>
            <a:endParaRPr lang="en-US" sz="563" dirty="0"/>
          </a:p>
        </p:txBody>
      </p:sp>
      <p:sp>
        <p:nvSpPr>
          <p:cNvPr id="62" name="Text 60"/>
          <p:cNvSpPr/>
          <p:nvPr/>
        </p:nvSpPr>
        <p:spPr>
          <a:xfrm>
            <a:off x="7088532" y="1621059"/>
            <a:ext cx="44409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running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7871033" y="1621059"/>
            <a:ext cx="6147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TaskOutput</a:t>
            </a:r>
            <a:endParaRPr lang="en-US" sz="563" dirty="0"/>
          </a:p>
        </p:txBody>
      </p:sp>
      <p:sp>
        <p:nvSpPr>
          <p:cNvPr id="64" name="Text 62"/>
          <p:cNvSpPr/>
          <p:nvPr/>
        </p:nvSpPr>
        <p:spPr>
          <a:xfrm>
            <a:off x="6714769" y="1852471"/>
            <a:ext cx="119162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reader 线程实时写 buffer</a:t>
            </a:r>
            <a:endParaRPr lang="en-US" sz="506" dirty="0"/>
          </a:p>
        </p:txBody>
      </p:sp>
      <p:sp>
        <p:nvSpPr>
          <p:cNvPr id="65" name="Text 63"/>
          <p:cNvSpPr/>
          <p:nvPr/>
        </p:nvSpPr>
        <p:spPr>
          <a:xfrm>
            <a:off x="4937739" y="2111215"/>
            <a:ext cx="8618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· PTY</a:t>
            </a:r>
            <a:endParaRPr lang="en-US" sz="619" dirty="0"/>
          </a:p>
        </p:txBody>
      </p:sp>
      <p:sp>
        <p:nvSpPr>
          <p:cNvPr id="66" name="Text 64"/>
          <p:cNvSpPr/>
          <p:nvPr/>
        </p:nvSpPr>
        <p:spPr>
          <a:xfrm>
            <a:off x="5949193" y="2128105"/>
            <a:ext cx="55806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PTY → sid</a:t>
            </a:r>
            <a:endParaRPr lang="en-US" sz="563" dirty="0"/>
          </a:p>
        </p:txBody>
      </p:sp>
      <p:sp>
        <p:nvSpPr>
          <p:cNvPr id="67" name="Text 65"/>
          <p:cNvSpPr/>
          <p:nvPr/>
        </p:nvSpPr>
        <p:spPr>
          <a:xfrm>
            <a:off x="6768108" y="2128105"/>
            <a:ext cx="124095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stdin ⇄ stdout · loop</a:t>
            </a:r>
            <a:endParaRPr lang="en-US" sz="563" dirty="0"/>
          </a:p>
        </p:txBody>
      </p:sp>
      <p:sp>
        <p:nvSpPr>
          <p:cNvPr id="68" name="Text 66"/>
          <p:cNvSpPr/>
          <p:nvPr/>
        </p:nvSpPr>
        <p:spPr>
          <a:xfrm>
            <a:off x="8226971" y="2128105"/>
            <a:ext cx="27342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quit</a:t>
            </a:r>
            <a:endParaRPr lang="en-US" sz="563" dirty="0"/>
          </a:p>
        </p:txBody>
      </p:sp>
      <p:sp>
        <p:nvSpPr>
          <p:cNvPr id="69" name="Text 67"/>
          <p:cNvSpPr/>
          <p:nvPr/>
        </p:nvSpPr>
        <p:spPr>
          <a:xfrm>
            <a:off x="6471810" y="2359523"/>
            <a:ext cx="183355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portable_pty · drop writer → SIGHUP</a:t>
            </a:r>
            <a:endParaRPr lang="en-US" sz="506" dirty="0"/>
          </a:p>
        </p:txBody>
      </p:sp>
      <p:sp>
        <p:nvSpPr>
          <p:cNvPr id="70" name="Text 68"/>
          <p:cNvSpPr/>
          <p:nvPr/>
        </p:nvSpPr>
        <p:spPr>
          <a:xfrm>
            <a:off x="4976742" y="2652054"/>
            <a:ext cx="51146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实线 · 显式调用    - - 虚线 · 自动流转    constants: DEFAULT_TIMEOUT=120 · AUTO_BG=30 · INTERACTIVE_SILENCE</a:t>
            </a:r>
            <a:endParaRPr lang="en-US" sz="506" dirty="0"/>
          </a:p>
        </p:txBody>
      </p:sp>
      <p:sp>
        <p:nvSpPr>
          <p:cNvPr id="71" name="Text 69"/>
          <p:cNvSpPr/>
          <p:nvPr/>
        </p:nvSpPr>
        <p:spPr>
          <a:xfrm>
            <a:off x="228600" y="4887776"/>
            <a:ext cx="146475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#bash #background #session</a:t>
            </a:r>
            <a:endParaRPr lang="en-US" sz="73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1424" y="394357"/>
            <a:ext cx="228394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adopt_process 自动升级 + PTY Session 启动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514350" y="257175"/>
            <a:ext cx="113793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执行三态 · 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606562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真实代码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4171950" cy="4942359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28600" y="235744"/>
            <a:ext cx="184438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超时自动升级（adopt_process）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228600" y="675084"/>
            <a:ext cx="9192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同步 Bash 跑过 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1145009" y="689372"/>
            <a:ext cx="120568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1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SHELL_AUTO_BG_SECS</a:t>
            </a:r>
            <a:endParaRPr lang="en-US" sz="861" dirty="0"/>
          </a:p>
        </p:txBody>
      </p:sp>
      <p:sp>
        <p:nvSpPr>
          <p:cNvPr id="10" name="Text 8"/>
          <p:cNvSpPr/>
          <p:nvPr/>
        </p:nvSpPr>
        <p:spPr>
          <a:xfrm>
            <a:off x="2347838" y="675084"/>
            <a:ext cx="10914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（30s）仍未结束：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385763" y="1188653"/>
            <a:ext cx="3852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先检查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5314" y="1188653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静默检测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78049" y="1188653"/>
            <a:ext cx="60918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—— 最近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4375" y="1202941"/>
            <a:ext cx="186313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SHELL_INTERACTIVE_SILENCE_SECS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385763" y="1188653"/>
            <a:ext cx="3981257" cy="379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无输出 → 疑似交互 → kill + 提示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5763" y="1677107"/>
            <a:ext cx="5722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非静默 →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2279" y="1677107"/>
            <a:ext cx="34397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 kill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10531" y="1677107"/>
            <a:ext cx="42221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，调用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29891" y="1691394"/>
            <a:ext cx="83331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adopt_process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385763" y="1677107"/>
            <a:ext cx="3915065" cy="379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把当前进程 + reader 线程一起移交 BackgroundManager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5763" y="2165561"/>
            <a:ext cx="226352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立即返回 task_id，Agent 可以先去做别的事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5763" y="2431219"/>
            <a:ext cx="173555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后台监控线程等 reader 写完后调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18457" y="2445507"/>
            <a:ext cx="83331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complete_task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2948918" y="2431219"/>
            <a:ext cx="53529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结束任务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" y="2861183"/>
            <a:ext cx="162638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PTY 交互式会话（Session）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228600" y="3300524"/>
            <a:ext cx="205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431081" y="3314812"/>
            <a:ext cx="81903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1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portable_pty</a:t>
            </a:r>
            <a:endParaRPr lang="en-US" sz="861" dirty="0"/>
          </a:p>
        </p:txBody>
      </p:sp>
      <p:sp>
        <p:nvSpPr>
          <p:cNvPr id="28" name="Text 26"/>
          <p:cNvSpPr/>
          <p:nvPr/>
        </p:nvSpPr>
        <p:spPr>
          <a:xfrm>
            <a:off x="1247254" y="3300524"/>
            <a:ext cx="806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分配伪终端：</a:t>
            </a:r>
            <a:endParaRPr lang="en-US" sz="956" dirty="0"/>
          </a:p>
        </p:txBody>
      </p:sp>
      <p:sp>
        <p:nvSpPr>
          <p:cNvPr id="29" name="Text 27"/>
          <p:cNvSpPr/>
          <p:nvPr/>
        </p:nvSpPr>
        <p:spPr>
          <a:xfrm>
            <a:off x="428625" y="3828380"/>
            <a:ext cx="46988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openpty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895648" y="3814093"/>
            <a:ext cx="23279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5587" y="3828380"/>
            <a:ext cx="119675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slave.spawn_command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2319486" y="3814093"/>
            <a:ext cx="53529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启动进程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8625" y="4094038"/>
            <a:ext cx="143908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master.try_clone_reader</a:t>
            </a:r>
            <a:endParaRPr lang="en-US" sz="810" dirty="0"/>
          </a:p>
        </p:txBody>
      </p:sp>
      <p:sp>
        <p:nvSpPr>
          <p:cNvPr id="34" name="Text 32"/>
          <p:cNvSpPr/>
          <p:nvPr/>
        </p:nvSpPr>
        <p:spPr>
          <a:xfrm>
            <a:off x="1864854" y="4079751"/>
            <a:ext cx="14162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供 Session stdout 读取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8625" y="4359697"/>
            <a:ext cx="113614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master.take_writer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1561914" y="4345409"/>
            <a:ext cx="49599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通过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55056" y="4359697"/>
            <a:ext cx="8939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set_pty_writer</a:t>
            </a:r>
            <a:endParaRPr lang="en-US" sz="810" dirty="0"/>
          </a:p>
        </p:txBody>
      </p:sp>
      <p:sp>
        <p:nvSpPr>
          <p:cNvPr id="38" name="Text 36"/>
          <p:cNvSpPr/>
          <p:nvPr/>
        </p:nvSpPr>
        <p:spPr>
          <a:xfrm>
            <a:off x="2946127" y="4345409"/>
            <a:ext cx="849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注册到 BgTask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5763" y="4611067"/>
            <a:ext cx="8623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 工具的 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45245" y="4625355"/>
            <a:ext cx="107564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stdin/stdout/quit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2318035" y="4611067"/>
            <a:ext cx="105187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直接操作 PTY 句柄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5763" y="4876726"/>
            <a:ext cx="253632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quit = drop writer → 进程收到 SIGHUP 自然退出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43450" y="171450"/>
            <a:ext cx="4171950" cy="4942359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4743450" y="257175"/>
            <a:ext cx="4171950" cy="3209441"/>
          </a:xfrm>
          <a:prstGeom prst="roundRect">
            <a:avLst>
              <a:gd name="adj" fmla="val 877"/>
            </a:avLst>
          </a:prstGeom>
          <a:solidFill>
            <a:srgbClr val="FBFBFB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0594" y="264319"/>
            <a:ext cx="4157663" cy="215652"/>
          </a:xfrm>
          <a:prstGeom prst="rect">
            <a:avLst/>
          </a:prstGeom>
          <a:solidFill>
            <a:srgbClr val="F0F3F8"/>
          </a:solidFill>
          <a:ln/>
        </p:spPr>
      </p:sp>
      <p:sp>
        <p:nvSpPr>
          <p:cNvPr id="46" name="Text 44"/>
          <p:cNvSpPr/>
          <p:nvPr/>
        </p:nvSpPr>
        <p:spPr>
          <a:xfrm>
            <a:off x="4822031" y="315664"/>
            <a:ext cx="125491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j-agent/src/tools/shell.rs</a:t>
            </a:r>
            <a:endParaRPr lang="en-US" sz="591" dirty="0"/>
          </a:p>
        </p:txBody>
      </p:sp>
      <p:sp>
        <p:nvSpPr>
          <p:cNvPr id="47" name="Text 45"/>
          <p:cNvSpPr/>
          <p:nvPr/>
        </p:nvSpPr>
        <p:spPr>
          <a:xfrm>
            <a:off x="6031223" y="315664"/>
            <a:ext cx="109585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execute_sync 自动升级</a:t>
            </a:r>
            <a:endParaRPr lang="en-US" sz="591" dirty="0"/>
          </a:p>
        </p:txBody>
      </p:sp>
      <p:sp>
        <p:nvSpPr>
          <p:cNvPr id="48" name="Text 46"/>
          <p:cNvSpPr/>
          <p:nvPr/>
        </p:nvSpPr>
        <p:spPr>
          <a:xfrm>
            <a:off x="8406743" y="321469"/>
            <a:ext cx="42579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4" dirty="0">
                <a:solidFill>
                  <a:srgbClr val="2C3E50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 code</a:t>
            </a:r>
            <a:endParaRPr lang="en-US" sz="534" dirty="0"/>
          </a:p>
        </p:txBody>
      </p:sp>
      <p:sp>
        <p:nvSpPr>
          <p:cNvPr id="49" name="Text 47"/>
          <p:cNvSpPr/>
          <p:nvPr/>
        </p:nvSpPr>
        <p:spPr>
          <a:xfrm>
            <a:off x="4822031" y="544264"/>
            <a:ext cx="169626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超过阈值仍未结束，不 kill 进程，移交后台</a:t>
            </a:r>
            <a:endParaRPr lang="en-US" sz="591" dirty="0"/>
          </a:p>
        </p:txBody>
      </p:sp>
      <p:sp>
        <p:nvSpPr>
          <p:cNvPr id="50" name="Text 48"/>
          <p:cNvSpPr/>
          <p:nvPr/>
        </p:nvSpPr>
        <p:spPr>
          <a:xfrm>
            <a:off x="4822031" y="660462"/>
            <a:ext cx="13345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endParaRPr lang="en-US" sz="591" dirty="0"/>
          </a:p>
        </p:txBody>
      </p:sp>
      <p:sp>
        <p:nvSpPr>
          <p:cNvPr id="51" name="Text 49"/>
          <p:cNvSpPr/>
          <p:nvPr/>
        </p:nvSpPr>
        <p:spPr>
          <a:xfrm>
            <a:off x="4822031" y="660462"/>
            <a:ext cx="1844159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start.elapsed() &gt;= auto_bg_threshold {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endParaRPr lang="en-US" sz="591" dirty="0"/>
          </a:p>
        </p:txBody>
      </p:sp>
      <p:sp>
        <p:nvSpPr>
          <p:cNvPr id="52" name="Text 50"/>
          <p:cNvSpPr/>
          <p:nvPr/>
        </p:nvSpPr>
        <p:spPr>
          <a:xfrm>
            <a:off x="4997500" y="776660"/>
            <a:ext cx="219721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静默判交互：若最近 N 秒无任何输出，判定疑似在等 stdin</a:t>
            </a:r>
            <a:endParaRPr lang="en-US" sz="591" dirty="0"/>
          </a:p>
        </p:txBody>
      </p:sp>
      <p:sp>
        <p:nvSpPr>
          <p:cNvPr id="53" name="Text 51"/>
          <p:cNvSpPr/>
          <p:nvPr/>
        </p:nvSpPr>
        <p:spPr>
          <a:xfrm>
            <a:off x="4997500" y="892857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54" name="Text 52"/>
          <p:cNvSpPr/>
          <p:nvPr/>
        </p:nvSpPr>
        <p:spPr>
          <a:xfrm>
            <a:off x="4822031" y="892857"/>
            <a:ext cx="1756425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silence_elapsed = last_write_at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.</a:t>
            </a:r>
            <a:endParaRPr lang="en-US" sz="591" dirty="0"/>
          </a:p>
        </p:txBody>
      </p:sp>
      <p:sp>
        <p:nvSpPr>
          <p:cNvPr id="55" name="Text 53"/>
          <p:cNvSpPr/>
          <p:nvPr/>
        </p:nvSpPr>
        <p:spPr>
          <a:xfrm>
            <a:off x="5216835" y="1009055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</a:t>
            </a:r>
            <a:endParaRPr lang="en-US" sz="591" dirty="0"/>
          </a:p>
        </p:txBody>
      </p:sp>
      <p:sp>
        <p:nvSpPr>
          <p:cNvPr id="56" name="Text 54"/>
          <p:cNvSpPr/>
          <p:nvPr/>
        </p:nvSpPr>
        <p:spPr>
          <a:xfrm>
            <a:off x="5392303" y="1009055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().</a:t>
            </a:r>
            <a:endParaRPr lang="en-US" sz="591" dirty="0"/>
          </a:p>
        </p:txBody>
      </p:sp>
      <p:sp>
        <p:nvSpPr>
          <p:cNvPr id="57" name="Text 55"/>
          <p:cNvSpPr/>
          <p:nvPr/>
        </p:nvSpPr>
        <p:spPr>
          <a:xfrm>
            <a:off x="5523905" y="1009055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</a:t>
            </a:r>
            <a:endParaRPr lang="en-US" sz="591" dirty="0"/>
          </a:p>
        </p:txBody>
      </p:sp>
      <p:sp>
        <p:nvSpPr>
          <p:cNvPr id="58" name="Text 56"/>
          <p:cNvSpPr/>
          <p:nvPr/>
        </p:nvSpPr>
        <p:spPr>
          <a:xfrm>
            <a:off x="5655506" y="1009055"/>
            <a:ext cx="44052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(|ts| ts.</a:t>
            </a:r>
            <a:endParaRPr lang="en-US" sz="591" dirty="0"/>
          </a:p>
        </p:txBody>
      </p:sp>
      <p:sp>
        <p:nvSpPr>
          <p:cNvPr id="59" name="Text 57"/>
          <p:cNvSpPr/>
          <p:nvPr/>
        </p:nvSpPr>
        <p:spPr>
          <a:xfrm>
            <a:off x="6050310" y="1009055"/>
            <a:ext cx="35279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elapsed</a:t>
            </a:r>
            <a:endParaRPr lang="en-US" sz="591" dirty="0"/>
          </a:p>
        </p:txBody>
      </p:sp>
      <p:sp>
        <p:nvSpPr>
          <p:cNvPr id="60" name="Text 58"/>
          <p:cNvSpPr/>
          <p:nvPr/>
        </p:nvSpPr>
        <p:spPr>
          <a:xfrm>
            <a:off x="4822031" y="1009055"/>
            <a:ext cx="1712669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())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.</a:t>
            </a:r>
            <a:endParaRPr lang="en-US" sz="591" dirty="0"/>
          </a:p>
        </p:txBody>
      </p:sp>
      <p:sp>
        <p:nvSpPr>
          <p:cNvPr id="61" name="Text 59"/>
          <p:cNvSpPr/>
          <p:nvPr/>
        </p:nvSpPr>
        <p:spPr>
          <a:xfrm>
            <a:off x="5216835" y="1125252"/>
            <a:ext cx="44052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unwrap_or</a:t>
            </a:r>
            <a:endParaRPr lang="en-US" sz="591" dirty="0"/>
          </a:p>
        </p:txBody>
      </p:sp>
      <p:sp>
        <p:nvSpPr>
          <p:cNvPr id="62" name="Text 60"/>
          <p:cNvSpPr/>
          <p:nvPr/>
        </p:nvSpPr>
        <p:spPr>
          <a:xfrm>
            <a:off x="4822031" y="1125252"/>
            <a:ext cx="1581068" cy="332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(Duration::ZERO);</a:t>
            </a:r>
            <a:endParaRPr lang="en-US" sz="591" dirty="0"/>
          </a:p>
          <a:p>
            <a:pPr algn="l" indent="0" marL="0">
              <a:buNone/>
            </a:pP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endParaRPr lang="en-US" sz="591" dirty="0"/>
          </a:p>
        </p:txBody>
      </p:sp>
      <p:sp>
        <p:nvSpPr>
          <p:cNvPr id="63" name="Text 61"/>
          <p:cNvSpPr/>
          <p:nvPr/>
        </p:nvSpPr>
        <p:spPr>
          <a:xfrm>
            <a:off x="4997500" y="1357647"/>
            <a:ext cx="13345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endParaRPr lang="en-US" sz="591" dirty="0"/>
          </a:p>
        </p:txBody>
      </p:sp>
      <p:sp>
        <p:nvSpPr>
          <p:cNvPr id="64" name="Text 62"/>
          <p:cNvSpPr/>
          <p:nvPr/>
        </p:nvSpPr>
        <p:spPr>
          <a:xfrm>
            <a:off x="5085234" y="1357647"/>
            <a:ext cx="13616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silence_elapsed &gt;= Duration::</a:t>
            </a:r>
            <a:endParaRPr lang="en-US" sz="591" dirty="0"/>
          </a:p>
        </p:txBody>
      </p:sp>
      <p:sp>
        <p:nvSpPr>
          <p:cNvPr id="65" name="Text 63"/>
          <p:cNvSpPr/>
          <p:nvPr/>
        </p:nvSpPr>
        <p:spPr>
          <a:xfrm>
            <a:off x="6401135" y="1357647"/>
            <a:ext cx="44052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from_secs</a:t>
            </a:r>
            <a:endParaRPr lang="en-US" sz="591" dirty="0"/>
          </a:p>
        </p:txBody>
      </p:sp>
      <p:sp>
        <p:nvSpPr>
          <p:cNvPr id="66" name="Text 64"/>
          <p:cNvSpPr/>
          <p:nvPr/>
        </p:nvSpPr>
        <p:spPr>
          <a:xfrm>
            <a:off x="4822031" y="1357647"/>
            <a:ext cx="3510997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(SHELL_INTERACTIVE_SILENCE_SECS) {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endParaRPr lang="en-US" sz="591" dirty="0"/>
          </a:p>
        </p:txBody>
      </p:sp>
      <p:sp>
        <p:nvSpPr>
          <p:cNvPr id="67" name="Text 65"/>
          <p:cNvSpPr/>
          <p:nvPr/>
        </p:nvSpPr>
        <p:spPr>
          <a:xfrm>
            <a:off x="5172968" y="1473845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68" name="Text 66"/>
          <p:cNvSpPr/>
          <p:nvPr/>
        </p:nvSpPr>
        <p:spPr>
          <a:xfrm>
            <a:off x="5304569" y="1473845"/>
            <a:ext cx="52825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 = child.</a:t>
            </a:r>
            <a:endParaRPr lang="en-US" sz="591" dirty="0"/>
          </a:p>
        </p:txBody>
      </p:sp>
      <p:sp>
        <p:nvSpPr>
          <p:cNvPr id="69" name="Text 67"/>
          <p:cNvSpPr/>
          <p:nvPr/>
        </p:nvSpPr>
        <p:spPr>
          <a:xfrm>
            <a:off x="5787107" y="1473845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kill</a:t>
            </a:r>
            <a:endParaRPr lang="en-US" sz="591" dirty="0"/>
          </a:p>
        </p:txBody>
      </p:sp>
      <p:sp>
        <p:nvSpPr>
          <p:cNvPr id="70" name="Text 68"/>
          <p:cNvSpPr/>
          <p:nvPr/>
        </p:nvSpPr>
        <p:spPr>
          <a:xfrm>
            <a:off x="5962576" y="1473845"/>
            <a:ext cx="26505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  </a:t>
            </a:r>
            <a:endParaRPr lang="en-US" sz="591" dirty="0"/>
          </a:p>
        </p:txBody>
      </p:sp>
      <p:sp>
        <p:nvSpPr>
          <p:cNvPr id="71" name="Text 69"/>
          <p:cNvSpPr/>
          <p:nvPr/>
        </p:nvSpPr>
        <p:spPr>
          <a:xfrm>
            <a:off x="6181911" y="1473845"/>
            <a:ext cx="139633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疑似交互 → kill + 提示加 --yes</a:t>
            </a:r>
            <a:endParaRPr lang="en-US" sz="591" dirty="0"/>
          </a:p>
        </p:txBody>
      </p:sp>
      <p:sp>
        <p:nvSpPr>
          <p:cNvPr id="72" name="Text 70"/>
          <p:cNvSpPr/>
          <p:nvPr/>
        </p:nvSpPr>
        <p:spPr>
          <a:xfrm>
            <a:off x="5172968" y="1590042"/>
            <a:ext cx="30892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591" dirty="0"/>
          </a:p>
        </p:txBody>
      </p:sp>
      <p:sp>
        <p:nvSpPr>
          <p:cNvPr id="73" name="Text 71"/>
          <p:cNvSpPr/>
          <p:nvPr/>
        </p:nvSpPr>
        <p:spPr>
          <a:xfrm>
            <a:off x="5436171" y="1590042"/>
            <a:ext cx="171255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ToolResult { output: hint, is_error: </a:t>
            </a:r>
            <a:endParaRPr lang="en-US" sz="591" dirty="0"/>
          </a:p>
        </p:txBody>
      </p:sp>
      <p:sp>
        <p:nvSpPr>
          <p:cNvPr id="74" name="Text 72"/>
          <p:cNvSpPr/>
          <p:nvPr/>
        </p:nvSpPr>
        <p:spPr>
          <a:xfrm>
            <a:off x="7103008" y="1590042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endParaRPr lang="en-US" sz="591" dirty="0"/>
          </a:p>
        </p:txBody>
      </p:sp>
      <p:sp>
        <p:nvSpPr>
          <p:cNvPr id="75" name="Text 73"/>
          <p:cNvSpPr/>
          <p:nvPr/>
        </p:nvSpPr>
        <p:spPr>
          <a:xfrm>
            <a:off x="4822031" y="1590042"/>
            <a:ext cx="2809235" cy="44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.. };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591" dirty="0"/>
          </a:p>
          <a:p>
            <a:pPr algn="l" indent="0" marL="0">
              <a:buNone/>
            </a:pP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endParaRPr lang="en-US" sz="591" dirty="0"/>
          </a:p>
        </p:txBody>
      </p:sp>
      <p:sp>
        <p:nvSpPr>
          <p:cNvPr id="76" name="Text 74"/>
          <p:cNvSpPr/>
          <p:nvPr/>
        </p:nvSpPr>
        <p:spPr>
          <a:xfrm>
            <a:off x="4997500" y="1938635"/>
            <a:ext cx="182551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真正升级：adopt 当前进程，立即返回 task_id</a:t>
            </a:r>
            <a:endParaRPr lang="en-US" sz="591" dirty="0"/>
          </a:p>
        </p:txBody>
      </p:sp>
      <p:sp>
        <p:nvSpPr>
          <p:cNvPr id="77" name="Text 75"/>
          <p:cNvSpPr/>
          <p:nvPr/>
        </p:nvSpPr>
        <p:spPr>
          <a:xfrm>
            <a:off x="4997500" y="2054833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78" name="Text 76"/>
          <p:cNvSpPr/>
          <p:nvPr/>
        </p:nvSpPr>
        <p:spPr>
          <a:xfrm>
            <a:off x="4822031" y="2054833"/>
            <a:ext cx="1361733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(task_id, bg_buffer) =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endParaRPr lang="en-US" sz="591" dirty="0"/>
          </a:p>
        </p:txBody>
      </p:sp>
      <p:sp>
        <p:nvSpPr>
          <p:cNvPr id="79" name="Text 77"/>
          <p:cNvSpPr/>
          <p:nvPr/>
        </p:nvSpPr>
        <p:spPr>
          <a:xfrm>
            <a:off x="5187255" y="2171030"/>
            <a:ext cx="61599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highlight>
                  <a:srgbClr val="7A5B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self.manager.</a:t>
            </a:r>
            <a:endParaRPr lang="en-US" sz="591" dirty="0"/>
          </a:p>
        </p:txBody>
      </p:sp>
      <p:sp>
        <p:nvSpPr>
          <p:cNvPr id="80" name="Text 78"/>
          <p:cNvSpPr/>
          <p:nvPr/>
        </p:nvSpPr>
        <p:spPr>
          <a:xfrm>
            <a:off x="5757528" y="2171030"/>
            <a:ext cx="61599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adopt_process</a:t>
            </a:r>
            <a:endParaRPr lang="en-US" sz="591" dirty="0"/>
          </a:p>
        </p:txBody>
      </p:sp>
      <p:sp>
        <p:nvSpPr>
          <p:cNvPr id="81" name="Text 79"/>
          <p:cNvSpPr/>
          <p:nvPr/>
        </p:nvSpPr>
        <p:spPr>
          <a:xfrm>
            <a:off x="6327800" y="2171030"/>
            <a:ext cx="96692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highlight>
                  <a:srgbClr val="7A5B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(command, pid, start)</a:t>
            </a:r>
            <a:endParaRPr lang="en-US" sz="591" dirty="0"/>
          </a:p>
        </p:txBody>
      </p:sp>
      <p:sp>
        <p:nvSpPr>
          <p:cNvPr id="82" name="Text 80"/>
          <p:cNvSpPr/>
          <p:nvPr/>
        </p:nvSpPr>
        <p:spPr>
          <a:xfrm>
            <a:off x="4822031" y="2171030"/>
            <a:ext cx="2530852" cy="332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591" dirty="0"/>
          </a:p>
          <a:p>
            <a:pPr algn="l" indent="0" marL="0">
              <a:buNone/>
            </a:pP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endParaRPr lang="en-US" sz="591" dirty="0"/>
          </a:p>
        </p:txBody>
      </p:sp>
      <p:sp>
        <p:nvSpPr>
          <p:cNvPr id="83" name="Text 81"/>
          <p:cNvSpPr/>
          <p:nvPr/>
        </p:nvSpPr>
        <p:spPr>
          <a:xfrm>
            <a:off x="4997500" y="2403425"/>
            <a:ext cx="142848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把当前已缓冲内容复制到 bg_buffer</a:t>
            </a:r>
            <a:endParaRPr lang="en-US" sz="591" dirty="0"/>
          </a:p>
        </p:txBody>
      </p:sp>
      <p:sp>
        <p:nvSpPr>
          <p:cNvPr id="84" name="Text 82"/>
          <p:cNvSpPr/>
          <p:nvPr/>
        </p:nvSpPr>
        <p:spPr>
          <a:xfrm>
            <a:off x="4997500" y="2519623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85" name="Text 83"/>
          <p:cNvSpPr/>
          <p:nvPr/>
        </p:nvSpPr>
        <p:spPr>
          <a:xfrm>
            <a:off x="5129101" y="2519623"/>
            <a:ext cx="144935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current_output = output_buffer.</a:t>
            </a:r>
            <a:endParaRPr lang="en-US" sz="591" dirty="0"/>
          </a:p>
        </p:txBody>
      </p:sp>
      <p:sp>
        <p:nvSpPr>
          <p:cNvPr id="86" name="Text 84"/>
          <p:cNvSpPr/>
          <p:nvPr/>
        </p:nvSpPr>
        <p:spPr>
          <a:xfrm>
            <a:off x="6532736" y="2519623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</a:t>
            </a:r>
            <a:endParaRPr lang="en-US" sz="591" dirty="0"/>
          </a:p>
        </p:txBody>
      </p:sp>
      <p:sp>
        <p:nvSpPr>
          <p:cNvPr id="87" name="Text 85"/>
          <p:cNvSpPr/>
          <p:nvPr/>
        </p:nvSpPr>
        <p:spPr>
          <a:xfrm>
            <a:off x="6708204" y="2519623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()..</a:t>
            </a:r>
            <a:endParaRPr lang="en-US" sz="591" dirty="0"/>
          </a:p>
        </p:txBody>
      </p:sp>
      <p:sp>
        <p:nvSpPr>
          <p:cNvPr id="88" name="Text 86"/>
          <p:cNvSpPr/>
          <p:nvPr/>
        </p:nvSpPr>
        <p:spPr>
          <a:xfrm>
            <a:off x="6883673" y="2519623"/>
            <a:ext cx="26505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clone</a:t>
            </a:r>
            <a:endParaRPr lang="en-US" sz="591" dirty="0"/>
          </a:p>
        </p:txBody>
      </p:sp>
      <p:sp>
        <p:nvSpPr>
          <p:cNvPr id="89" name="Text 87"/>
          <p:cNvSpPr/>
          <p:nvPr/>
        </p:nvSpPr>
        <p:spPr>
          <a:xfrm>
            <a:off x="4822031" y="2519623"/>
            <a:ext cx="2458298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endParaRPr lang="en-US" sz="591" dirty="0"/>
          </a:p>
        </p:txBody>
      </p:sp>
      <p:sp>
        <p:nvSpPr>
          <p:cNvPr id="90" name="Text 88"/>
          <p:cNvSpPr/>
          <p:nvPr/>
        </p:nvSpPr>
        <p:spPr>
          <a:xfrm>
            <a:off x="4997500" y="2635821"/>
            <a:ext cx="13345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endParaRPr lang="en-US" sz="591" dirty="0"/>
          </a:p>
        </p:txBody>
      </p:sp>
      <p:sp>
        <p:nvSpPr>
          <p:cNvPr id="91" name="Text 89"/>
          <p:cNvSpPr/>
          <p:nvPr/>
        </p:nvSpPr>
        <p:spPr>
          <a:xfrm>
            <a:off x="5085234" y="2635821"/>
            <a:ext cx="79146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!current_output.</a:t>
            </a:r>
            <a:endParaRPr lang="en-US" sz="591" dirty="0"/>
          </a:p>
        </p:txBody>
      </p:sp>
      <p:sp>
        <p:nvSpPr>
          <p:cNvPr id="92" name="Text 90"/>
          <p:cNvSpPr/>
          <p:nvPr/>
        </p:nvSpPr>
        <p:spPr>
          <a:xfrm>
            <a:off x="5830974" y="2635821"/>
            <a:ext cx="39665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is_empty</a:t>
            </a:r>
            <a:endParaRPr lang="en-US" sz="591" dirty="0"/>
          </a:p>
        </p:txBody>
      </p:sp>
      <p:sp>
        <p:nvSpPr>
          <p:cNvPr id="93" name="Text 91"/>
          <p:cNvSpPr/>
          <p:nvPr/>
        </p:nvSpPr>
        <p:spPr>
          <a:xfrm>
            <a:off x="4822031" y="2635821"/>
            <a:ext cx="1581068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{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bg_buffer.</a:t>
            </a:r>
            <a:endParaRPr lang="en-US" sz="591" dirty="0"/>
          </a:p>
        </p:txBody>
      </p:sp>
      <p:sp>
        <p:nvSpPr>
          <p:cNvPr id="94" name="Text 92"/>
          <p:cNvSpPr/>
          <p:nvPr/>
        </p:nvSpPr>
        <p:spPr>
          <a:xfrm>
            <a:off x="5611639" y="2752018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</a:t>
            </a:r>
            <a:endParaRPr lang="en-US" sz="591" dirty="0"/>
          </a:p>
        </p:txBody>
      </p:sp>
      <p:sp>
        <p:nvSpPr>
          <p:cNvPr id="95" name="Text 93"/>
          <p:cNvSpPr/>
          <p:nvPr/>
        </p:nvSpPr>
        <p:spPr>
          <a:xfrm>
            <a:off x="5787107" y="2752018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()..</a:t>
            </a:r>
            <a:endParaRPr lang="en-US" sz="591" dirty="0"/>
          </a:p>
        </p:txBody>
      </p:sp>
      <p:sp>
        <p:nvSpPr>
          <p:cNvPr id="96" name="Text 94"/>
          <p:cNvSpPr/>
          <p:nvPr/>
        </p:nvSpPr>
        <p:spPr>
          <a:xfrm>
            <a:off x="5962576" y="2752018"/>
            <a:ext cx="39665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push_str</a:t>
            </a:r>
            <a:endParaRPr lang="en-US" sz="591" dirty="0"/>
          </a:p>
        </p:txBody>
      </p:sp>
      <p:sp>
        <p:nvSpPr>
          <p:cNvPr id="97" name="Text 95"/>
          <p:cNvSpPr/>
          <p:nvPr/>
        </p:nvSpPr>
        <p:spPr>
          <a:xfrm>
            <a:off x="4822031" y="2752018"/>
            <a:ext cx="2326809" cy="44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(&amp;current_output);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591" dirty="0"/>
          </a:p>
          <a:p>
            <a:pPr algn="l" indent="0" marL="0">
              <a:buNone/>
            </a:pP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endParaRPr lang="en-US" sz="591" dirty="0"/>
          </a:p>
        </p:txBody>
      </p:sp>
      <p:sp>
        <p:nvSpPr>
          <p:cNvPr id="98" name="Text 96"/>
          <p:cNvSpPr/>
          <p:nvPr/>
        </p:nvSpPr>
        <p:spPr>
          <a:xfrm>
            <a:off x="4997500" y="3100611"/>
            <a:ext cx="196884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后台监控线程：等 reader 写完 → complete_task</a:t>
            </a:r>
            <a:endParaRPr lang="en-US" sz="591" dirty="0"/>
          </a:p>
        </p:txBody>
      </p:sp>
      <p:sp>
        <p:nvSpPr>
          <p:cNvPr id="99" name="Text 97"/>
          <p:cNvSpPr/>
          <p:nvPr/>
        </p:nvSpPr>
        <p:spPr>
          <a:xfrm>
            <a:off x="4822031" y="3216808"/>
            <a:ext cx="79146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std::thread::</a:t>
            </a:r>
            <a:endParaRPr lang="en-US" sz="591" dirty="0"/>
          </a:p>
        </p:txBody>
      </p:sp>
      <p:sp>
        <p:nvSpPr>
          <p:cNvPr id="100" name="Text 98"/>
          <p:cNvSpPr/>
          <p:nvPr/>
        </p:nvSpPr>
        <p:spPr>
          <a:xfrm>
            <a:off x="5567772" y="3216808"/>
            <a:ext cx="26505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</a:t>
            </a:r>
            <a:endParaRPr lang="en-US" sz="591" dirty="0"/>
          </a:p>
        </p:txBody>
      </p:sp>
      <p:sp>
        <p:nvSpPr>
          <p:cNvPr id="101" name="Text 99"/>
          <p:cNvSpPr/>
          <p:nvPr/>
        </p:nvSpPr>
        <p:spPr>
          <a:xfrm>
            <a:off x="5787107" y="3216808"/>
            <a:ext cx="8958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591" dirty="0"/>
          </a:p>
        </p:txBody>
      </p:sp>
      <p:sp>
        <p:nvSpPr>
          <p:cNvPr id="102" name="Text 100"/>
          <p:cNvSpPr/>
          <p:nvPr/>
        </p:nvSpPr>
        <p:spPr>
          <a:xfrm>
            <a:off x="5830974" y="3216808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</a:t>
            </a:r>
            <a:endParaRPr lang="en-US" sz="591" dirty="0"/>
          </a:p>
        </p:txBody>
      </p:sp>
      <p:sp>
        <p:nvSpPr>
          <p:cNvPr id="103" name="Text 101"/>
          <p:cNvSpPr/>
          <p:nvPr/>
        </p:nvSpPr>
        <p:spPr>
          <a:xfrm>
            <a:off x="4822031" y="3216808"/>
            <a:ext cx="1449467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|| {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endParaRPr lang="en-US" sz="591" dirty="0"/>
          </a:p>
        </p:txBody>
      </p:sp>
      <p:sp>
        <p:nvSpPr>
          <p:cNvPr id="104" name="Text 102"/>
          <p:cNvSpPr/>
          <p:nvPr/>
        </p:nvSpPr>
        <p:spPr>
          <a:xfrm>
            <a:off x="5172968" y="3333006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105" name="Text 103"/>
          <p:cNvSpPr/>
          <p:nvPr/>
        </p:nvSpPr>
        <p:spPr>
          <a:xfrm>
            <a:off x="5304569" y="3333006"/>
            <a:ext cx="8791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 = stdout_thread.</a:t>
            </a:r>
            <a:endParaRPr lang="en-US" sz="591" dirty="0"/>
          </a:p>
        </p:txBody>
      </p:sp>
      <p:sp>
        <p:nvSpPr>
          <p:cNvPr id="106" name="Text 104"/>
          <p:cNvSpPr/>
          <p:nvPr/>
        </p:nvSpPr>
        <p:spPr>
          <a:xfrm>
            <a:off x="6138044" y="3333006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endParaRPr lang="en-US" sz="591" dirty="0"/>
          </a:p>
        </p:txBody>
      </p:sp>
      <p:sp>
        <p:nvSpPr>
          <p:cNvPr id="107" name="Text 105"/>
          <p:cNvSpPr/>
          <p:nvPr/>
        </p:nvSpPr>
        <p:spPr>
          <a:xfrm>
            <a:off x="4822031" y="3333006"/>
            <a:ext cx="1668802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endParaRPr lang="en-US" sz="591" dirty="0"/>
          </a:p>
        </p:txBody>
      </p:sp>
      <p:sp>
        <p:nvSpPr>
          <p:cNvPr id="108" name="Text 106"/>
          <p:cNvSpPr/>
          <p:nvPr/>
        </p:nvSpPr>
        <p:spPr>
          <a:xfrm>
            <a:off x="5172968" y="3449203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109" name="Text 107"/>
          <p:cNvSpPr/>
          <p:nvPr/>
        </p:nvSpPr>
        <p:spPr>
          <a:xfrm>
            <a:off x="5304569" y="3449203"/>
            <a:ext cx="8791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 = stderr_thread.</a:t>
            </a:r>
            <a:endParaRPr lang="en-US" sz="591" dirty="0"/>
          </a:p>
        </p:txBody>
      </p:sp>
      <p:sp>
        <p:nvSpPr>
          <p:cNvPr id="110" name="Text 108"/>
          <p:cNvSpPr/>
          <p:nvPr/>
        </p:nvSpPr>
        <p:spPr>
          <a:xfrm>
            <a:off x="6138044" y="3449203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endParaRPr lang="en-US" sz="591" dirty="0"/>
          </a:p>
        </p:txBody>
      </p:sp>
      <p:sp>
        <p:nvSpPr>
          <p:cNvPr id="111" name="Text 109"/>
          <p:cNvSpPr/>
          <p:nvPr/>
        </p:nvSpPr>
        <p:spPr>
          <a:xfrm>
            <a:off x="4822031" y="3449203"/>
            <a:ext cx="1668802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manager.</a:t>
            </a:r>
            <a:endParaRPr lang="en-US" sz="591" dirty="0"/>
          </a:p>
        </p:txBody>
      </p:sp>
      <p:sp>
        <p:nvSpPr>
          <p:cNvPr id="112" name="Text 110"/>
          <p:cNvSpPr/>
          <p:nvPr/>
        </p:nvSpPr>
        <p:spPr>
          <a:xfrm>
            <a:off x="5523905" y="3565401"/>
            <a:ext cx="61599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complete_task</a:t>
            </a:r>
            <a:endParaRPr lang="en-US" sz="591" dirty="0"/>
          </a:p>
        </p:txBody>
      </p:sp>
      <p:sp>
        <p:nvSpPr>
          <p:cNvPr id="113" name="Text 111"/>
          <p:cNvSpPr/>
          <p:nvPr/>
        </p:nvSpPr>
        <p:spPr>
          <a:xfrm>
            <a:off x="6094177" y="3565401"/>
            <a:ext cx="35279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(&amp;tid, </a:t>
            </a:r>
            <a:endParaRPr lang="en-US" sz="591" dirty="0"/>
          </a:p>
        </p:txBody>
      </p:sp>
      <p:sp>
        <p:nvSpPr>
          <p:cNvPr id="114" name="Text 112"/>
          <p:cNvSpPr/>
          <p:nvPr/>
        </p:nvSpPr>
        <p:spPr>
          <a:xfrm>
            <a:off x="6401246" y="3565401"/>
            <a:ext cx="52825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1E5E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"completed"</a:t>
            </a:r>
            <a:endParaRPr lang="en-US" sz="591" dirty="0"/>
          </a:p>
        </p:txBody>
      </p:sp>
      <p:sp>
        <p:nvSpPr>
          <p:cNvPr id="115" name="Text 113"/>
          <p:cNvSpPr/>
          <p:nvPr/>
        </p:nvSpPr>
        <p:spPr>
          <a:xfrm>
            <a:off x="4822031" y="3565401"/>
            <a:ext cx="2809347" cy="44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final_output);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});</a:t>
            </a:r>
            <a:endParaRPr lang="en-US" sz="591" dirty="0"/>
          </a:p>
          <a:p>
            <a:pPr algn="l" indent="0" marL="0">
              <a:buNone/>
            </a:pP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endParaRPr lang="en-US" sz="591" dirty="0"/>
          </a:p>
        </p:txBody>
      </p:sp>
      <p:sp>
        <p:nvSpPr>
          <p:cNvPr id="116" name="Text 114"/>
          <p:cNvSpPr/>
          <p:nvPr/>
        </p:nvSpPr>
        <p:spPr>
          <a:xfrm>
            <a:off x="4997500" y="3913994"/>
            <a:ext cx="30892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591" dirty="0"/>
          </a:p>
        </p:txBody>
      </p:sp>
      <p:sp>
        <p:nvSpPr>
          <p:cNvPr id="117" name="Text 115"/>
          <p:cNvSpPr/>
          <p:nvPr/>
        </p:nvSpPr>
        <p:spPr>
          <a:xfrm>
            <a:off x="4822031" y="3913994"/>
            <a:ext cx="1098530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ToolResult {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output: json!({ </a:t>
            </a:r>
            <a:endParaRPr lang="en-US" sz="591" dirty="0"/>
          </a:p>
        </p:txBody>
      </p:sp>
      <p:sp>
        <p:nvSpPr>
          <p:cNvPr id="118" name="Text 116"/>
          <p:cNvSpPr/>
          <p:nvPr/>
        </p:nvSpPr>
        <p:spPr>
          <a:xfrm>
            <a:off x="5874841" y="4030191"/>
            <a:ext cx="44052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1E5E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"task_id"</a:t>
            </a:r>
            <a:endParaRPr lang="en-US" sz="591" dirty="0"/>
          </a:p>
        </p:txBody>
      </p:sp>
      <p:sp>
        <p:nvSpPr>
          <p:cNvPr id="119" name="Text 117"/>
          <p:cNvSpPr/>
          <p:nvPr/>
        </p:nvSpPr>
        <p:spPr>
          <a:xfrm>
            <a:off x="6269645" y="4030191"/>
            <a:ext cx="52825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task_id, </a:t>
            </a:r>
            <a:endParaRPr lang="en-US" sz="591" dirty="0"/>
          </a:p>
        </p:txBody>
      </p:sp>
      <p:sp>
        <p:nvSpPr>
          <p:cNvPr id="120" name="Text 118"/>
          <p:cNvSpPr/>
          <p:nvPr/>
        </p:nvSpPr>
        <p:spPr>
          <a:xfrm>
            <a:off x="6752183" y="4030191"/>
            <a:ext cx="39665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1E5E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"status"</a:t>
            </a:r>
            <a:endParaRPr lang="en-US" sz="591" dirty="0"/>
          </a:p>
        </p:txBody>
      </p:sp>
      <p:sp>
        <p:nvSpPr>
          <p:cNvPr id="121" name="Text 119"/>
          <p:cNvSpPr/>
          <p:nvPr/>
        </p:nvSpPr>
        <p:spPr>
          <a:xfrm>
            <a:off x="7103120" y="4030191"/>
            <a:ext cx="13345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endParaRPr lang="en-US" sz="591" dirty="0"/>
          </a:p>
        </p:txBody>
      </p:sp>
      <p:sp>
        <p:nvSpPr>
          <p:cNvPr id="122" name="Text 120"/>
          <p:cNvSpPr/>
          <p:nvPr/>
        </p:nvSpPr>
        <p:spPr>
          <a:xfrm>
            <a:off x="7190854" y="4030191"/>
            <a:ext cx="44052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1E5E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"running"</a:t>
            </a:r>
            <a:endParaRPr lang="en-US" sz="591" dirty="0"/>
          </a:p>
        </p:txBody>
      </p:sp>
      <p:sp>
        <p:nvSpPr>
          <p:cNvPr id="123" name="Text 121"/>
          <p:cNvSpPr/>
          <p:nvPr/>
        </p:nvSpPr>
        <p:spPr>
          <a:xfrm>
            <a:off x="4822031" y="4030191"/>
            <a:ext cx="2984815" cy="44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}),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..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};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591" dirty="0"/>
          </a:p>
        </p:txBody>
      </p:sp>
      <p:sp>
        <p:nvSpPr>
          <p:cNvPr id="124" name="Shape 122"/>
          <p:cNvSpPr/>
          <p:nvPr/>
        </p:nvSpPr>
        <p:spPr>
          <a:xfrm>
            <a:off x="4743450" y="3552341"/>
            <a:ext cx="4171950" cy="1561467"/>
          </a:xfrm>
          <a:prstGeom prst="roundRect">
            <a:avLst>
              <a:gd name="adj" fmla="val 1802"/>
            </a:avLst>
          </a:prstGeom>
          <a:solidFill>
            <a:srgbClr val="FBFBFB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0594" y="3559485"/>
            <a:ext cx="4157663" cy="215652"/>
          </a:xfrm>
          <a:prstGeom prst="rect">
            <a:avLst/>
          </a:prstGeom>
          <a:solidFill>
            <a:srgbClr val="F0F3F8"/>
          </a:solidFill>
          <a:ln/>
        </p:spPr>
      </p:sp>
      <p:sp>
        <p:nvSpPr>
          <p:cNvPr id="126" name="Text 124"/>
          <p:cNvSpPr/>
          <p:nvPr/>
        </p:nvSpPr>
        <p:spPr>
          <a:xfrm>
            <a:off x="4822031" y="3610831"/>
            <a:ext cx="125491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j-agent/src/tools/shell.rs</a:t>
            </a:r>
            <a:endParaRPr lang="en-US" sz="591" dirty="0"/>
          </a:p>
        </p:txBody>
      </p:sp>
      <p:sp>
        <p:nvSpPr>
          <p:cNvPr id="127" name="Text 125"/>
          <p:cNvSpPr/>
          <p:nvPr/>
        </p:nvSpPr>
        <p:spPr>
          <a:xfrm>
            <a:off x="6031223" y="3610831"/>
            <a:ext cx="137791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execute_interactive 起 PTY</a:t>
            </a:r>
            <a:endParaRPr lang="en-US" sz="591" dirty="0"/>
          </a:p>
        </p:txBody>
      </p:sp>
      <p:sp>
        <p:nvSpPr>
          <p:cNvPr id="128" name="Text 126"/>
          <p:cNvSpPr/>
          <p:nvPr/>
        </p:nvSpPr>
        <p:spPr>
          <a:xfrm>
            <a:off x="8406743" y="3616635"/>
            <a:ext cx="42579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4" dirty="0">
                <a:solidFill>
                  <a:srgbClr val="2C3E50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 code</a:t>
            </a:r>
            <a:endParaRPr lang="en-US" sz="534" dirty="0"/>
          </a:p>
        </p:txBody>
      </p:sp>
      <p:sp>
        <p:nvSpPr>
          <p:cNvPr id="129" name="Text 127"/>
          <p:cNvSpPr/>
          <p:nvPr/>
        </p:nvSpPr>
        <p:spPr>
          <a:xfrm>
            <a:off x="4822031" y="3839431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130" name="Text 128"/>
          <p:cNvSpPr/>
          <p:nvPr/>
        </p:nvSpPr>
        <p:spPr>
          <a:xfrm>
            <a:off x="4953633" y="3839431"/>
            <a:ext cx="65985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pty_system = </a:t>
            </a:r>
            <a:endParaRPr lang="en-US" sz="591" dirty="0"/>
          </a:p>
        </p:txBody>
      </p:sp>
      <p:sp>
        <p:nvSpPr>
          <p:cNvPr id="131" name="Text 129"/>
          <p:cNvSpPr/>
          <p:nvPr/>
        </p:nvSpPr>
        <p:spPr>
          <a:xfrm>
            <a:off x="5567772" y="3839431"/>
            <a:ext cx="109841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NativePtySystem::default</a:t>
            </a:r>
            <a:endParaRPr lang="en-US" sz="591" dirty="0"/>
          </a:p>
        </p:txBody>
      </p:sp>
      <p:sp>
        <p:nvSpPr>
          <p:cNvPr id="132" name="Text 130"/>
          <p:cNvSpPr/>
          <p:nvPr/>
        </p:nvSpPr>
        <p:spPr>
          <a:xfrm>
            <a:off x="6620470" y="3839431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
</a:t>
            </a:r>
            <a:endParaRPr lang="en-US" sz="591" dirty="0"/>
          </a:p>
        </p:txBody>
      </p:sp>
      <p:sp>
        <p:nvSpPr>
          <p:cNvPr id="133" name="Text 131"/>
          <p:cNvSpPr/>
          <p:nvPr/>
        </p:nvSpPr>
        <p:spPr>
          <a:xfrm>
            <a:off x="4822031" y="3955628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134" name="Text 132"/>
          <p:cNvSpPr/>
          <p:nvPr/>
        </p:nvSpPr>
        <p:spPr>
          <a:xfrm>
            <a:off x="4953633" y="3955628"/>
            <a:ext cx="8791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pair = pty_system.</a:t>
            </a:r>
            <a:endParaRPr lang="en-US" sz="591" dirty="0"/>
          </a:p>
        </p:txBody>
      </p:sp>
      <p:sp>
        <p:nvSpPr>
          <p:cNvPr id="135" name="Text 133"/>
          <p:cNvSpPr/>
          <p:nvPr/>
        </p:nvSpPr>
        <p:spPr>
          <a:xfrm>
            <a:off x="5787107" y="3955628"/>
            <a:ext cx="35279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openpty</a:t>
            </a:r>
            <a:endParaRPr lang="en-US" sz="591" dirty="0"/>
          </a:p>
        </p:txBody>
      </p:sp>
      <p:sp>
        <p:nvSpPr>
          <p:cNvPr id="136" name="Text 134"/>
          <p:cNvSpPr/>
          <p:nvPr/>
        </p:nvSpPr>
        <p:spPr>
          <a:xfrm>
            <a:off x="4822031" y="3955628"/>
            <a:ext cx="1756537" cy="21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(PtySize {</a:t>
            </a:r>
            <a:endParaRPr lang="en-US" sz="591" dirty="0"/>
          </a:p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rows: </a:t>
            </a:r>
            <a:endParaRPr lang="en-US" sz="591" dirty="0"/>
          </a:p>
        </p:txBody>
      </p:sp>
      <p:sp>
        <p:nvSpPr>
          <p:cNvPr id="137" name="Text 135"/>
          <p:cNvSpPr/>
          <p:nvPr/>
        </p:nvSpPr>
        <p:spPr>
          <a:xfrm>
            <a:off x="5260702" y="4071826"/>
            <a:ext cx="13345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7A5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591" dirty="0"/>
          </a:p>
        </p:txBody>
      </p:sp>
      <p:sp>
        <p:nvSpPr>
          <p:cNvPr id="138" name="Text 136"/>
          <p:cNvSpPr/>
          <p:nvPr/>
        </p:nvSpPr>
        <p:spPr>
          <a:xfrm>
            <a:off x="5348436" y="4071826"/>
            <a:ext cx="39665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cols: </a:t>
            </a:r>
            <a:endParaRPr lang="en-US" sz="591" dirty="0"/>
          </a:p>
        </p:txBody>
      </p:sp>
      <p:sp>
        <p:nvSpPr>
          <p:cNvPr id="139" name="Text 137"/>
          <p:cNvSpPr/>
          <p:nvPr/>
        </p:nvSpPr>
        <p:spPr>
          <a:xfrm>
            <a:off x="5699373" y="4071826"/>
            <a:ext cx="13345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7A5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</a:t>
            </a:r>
            <a:endParaRPr lang="en-US" sz="591" dirty="0"/>
          </a:p>
        </p:txBody>
      </p:sp>
      <p:sp>
        <p:nvSpPr>
          <p:cNvPr id="140" name="Text 138"/>
          <p:cNvSpPr/>
          <p:nvPr/>
        </p:nvSpPr>
        <p:spPr>
          <a:xfrm>
            <a:off x="5787107" y="4071826"/>
            <a:ext cx="70372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pixel_width: </a:t>
            </a:r>
            <a:endParaRPr lang="en-US" sz="591" dirty="0"/>
          </a:p>
        </p:txBody>
      </p:sp>
      <p:sp>
        <p:nvSpPr>
          <p:cNvPr id="141" name="Text 139"/>
          <p:cNvSpPr/>
          <p:nvPr/>
        </p:nvSpPr>
        <p:spPr>
          <a:xfrm>
            <a:off x="6445114" y="4071826"/>
            <a:ext cx="8958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7A5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591" dirty="0"/>
          </a:p>
        </p:txBody>
      </p:sp>
      <p:sp>
        <p:nvSpPr>
          <p:cNvPr id="142" name="Text 140"/>
          <p:cNvSpPr/>
          <p:nvPr/>
        </p:nvSpPr>
        <p:spPr>
          <a:xfrm>
            <a:off x="6488981" y="4071826"/>
            <a:ext cx="74759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pixel_height: </a:t>
            </a:r>
            <a:endParaRPr lang="en-US" sz="591" dirty="0"/>
          </a:p>
        </p:txBody>
      </p:sp>
      <p:sp>
        <p:nvSpPr>
          <p:cNvPr id="143" name="Text 141"/>
          <p:cNvSpPr/>
          <p:nvPr/>
        </p:nvSpPr>
        <p:spPr>
          <a:xfrm>
            <a:off x="7190854" y="4071826"/>
            <a:ext cx="8958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7A5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591" dirty="0"/>
          </a:p>
        </p:txBody>
      </p:sp>
      <p:sp>
        <p:nvSpPr>
          <p:cNvPr id="144" name="Text 142"/>
          <p:cNvSpPr/>
          <p:nvPr/>
        </p:nvSpPr>
        <p:spPr>
          <a:xfrm>
            <a:off x="4822031" y="4188023"/>
            <a:ext cx="221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})?;
</a:t>
            </a:r>
            <a:endParaRPr lang="en-US" sz="591" dirty="0"/>
          </a:p>
        </p:txBody>
      </p:sp>
      <p:sp>
        <p:nvSpPr>
          <p:cNvPr id="145" name="Text 143"/>
          <p:cNvSpPr/>
          <p:nvPr/>
        </p:nvSpPr>
        <p:spPr>
          <a:xfrm>
            <a:off x="4822031" y="4420419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146" name="Text 144"/>
          <p:cNvSpPr/>
          <p:nvPr/>
        </p:nvSpPr>
        <p:spPr>
          <a:xfrm>
            <a:off x="4953633" y="4420419"/>
            <a:ext cx="96692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_child = pair.slave.</a:t>
            </a:r>
            <a:endParaRPr lang="en-US" sz="591" dirty="0"/>
          </a:p>
        </p:txBody>
      </p:sp>
      <p:sp>
        <p:nvSpPr>
          <p:cNvPr id="147" name="Text 145"/>
          <p:cNvSpPr/>
          <p:nvPr/>
        </p:nvSpPr>
        <p:spPr>
          <a:xfrm>
            <a:off x="5874841" y="4420419"/>
            <a:ext cx="61599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spawn_command</a:t>
            </a:r>
            <a:endParaRPr lang="en-US" sz="591" dirty="0"/>
          </a:p>
        </p:txBody>
      </p:sp>
      <p:sp>
        <p:nvSpPr>
          <p:cNvPr id="148" name="Text 146"/>
          <p:cNvSpPr/>
          <p:nvPr/>
        </p:nvSpPr>
        <p:spPr>
          <a:xfrm>
            <a:off x="6445114" y="4420419"/>
            <a:ext cx="52825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(builder)?;
</a:t>
            </a:r>
            <a:endParaRPr lang="en-US" sz="591" dirty="0"/>
          </a:p>
        </p:txBody>
      </p:sp>
      <p:sp>
        <p:nvSpPr>
          <p:cNvPr id="149" name="Text 147"/>
          <p:cNvSpPr/>
          <p:nvPr/>
        </p:nvSpPr>
        <p:spPr>
          <a:xfrm>
            <a:off x="4822031" y="4652814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150" name="Text 148"/>
          <p:cNvSpPr/>
          <p:nvPr/>
        </p:nvSpPr>
        <p:spPr>
          <a:xfrm>
            <a:off x="4953633" y="4652814"/>
            <a:ext cx="101079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reader = pair.master.</a:t>
            </a:r>
            <a:endParaRPr lang="en-US" sz="591" dirty="0"/>
          </a:p>
        </p:txBody>
      </p:sp>
      <p:sp>
        <p:nvSpPr>
          <p:cNvPr id="151" name="Text 149"/>
          <p:cNvSpPr/>
          <p:nvPr/>
        </p:nvSpPr>
        <p:spPr>
          <a:xfrm>
            <a:off x="5918708" y="4652814"/>
            <a:ext cx="74759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try_clone_reader</a:t>
            </a:r>
            <a:endParaRPr lang="en-US" sz="591" dirty="0"/>
          </a:p>
        </p:txBody>
      </p:sp>
      <p:sp>
        <p:nvSpPr>
          <p:cNvPr id="152" name="Text 150"/>
          <p:cNvSpPr/>
          <p:nvPr/>
        </p:nvSpPr>
        <p:spPr>
          <a:xfrm>
            <a:off x="6620582" y="4652814"/>
            <a:ext cx="35279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()?;   </a:t>
            </a:r>
            <a:endParaRPr lang="en-US" sz="591" dirty="0"/>
          </a:p>
        </p:txBody>
      </p:sp>
      <p:sp>
        <p:nvSpPr>
          <p:cNvPr id="153" name="Text 151"/>
          <p:cNvSpPr/>
          <p:nvPr/>
        </p:nvSpPr>
        <p:spPr>
          <a:xfrm>
            <a:off x="6927652" y="4652814"/>
            <a:ext cx="79146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Session stdout</a:t>
            </a:r>
            <a:endParaRPr lang="en-US" sz="591" dirty="0"/>
          </a:p>
        </p:txBody>
      </p:sp>
      <p:sp>
        <p:nvSpPr>
          <p:cNvPr id="154" name="Text 152"/>
          <p:cNvSpPr/>
          <p:nvPr/>
        </p:nvSpPr>
        <p:spPr>
          <a:xfrm>
            <a:off x="4822031" y="4769011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7A1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endParaRPr lang="en-US" sz="591" dirty="0"/>
          </a:p>
        </p:txBody>
      </p:sp>
      <p:sp>
        <p:nvSpPr>
          <p:cNvPr id="155" name="Text 153"/>
          <p:cNvSpPr/>
          <p:nvPr/>
        </p:nvSpPr>
        <p:spPr>
          <a:xfrm>
            <a:off x="4953633" y="4769011"/>
            <a:ext cx="101079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writer = pair.master.</a:t>
            </a:r>
            <a:endParaRPr lang="en-US" sz="591" dirty="0"/>
          </a:p>
        </p:txBody>
      </p:sp>
      <p:sp>
        <p:nvSpPr>
          <p:cNvPr id="156" name="Text 154"/>
          <p:cNvSpPr/>
          <p:nvPr/>
        </p:nvSpPr>
        <p:spPr>
          <a:xfrm>
            <a:off x="5918708" y="4769011"/>
            <a:ext cx="52825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take_writer</a:t>
            </a:r>
            <a:endParaRPr lang="en-US" sz="591" dirty="0"/>
          </a:p>
        </p:txBody>
      </p:sp>
      <p:sp>
        <p:nvSpPr>
          <p:cNvPr id="157" name="Text 155"/>
          <p:cNvSpPr/>
          <p:nvPr/>
        </p:nvSpPr>
        <p:spPr>
          <a:xfrm>
            <a:off x="6401246" y="4769011"/>
            <a:ext cx="61599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()?;         </a:t>
            </a:r>
            <a:endParaRPr lang="en-US" sz="591" dirty="0"/>
          </a:p>
        </p:txBody>
      </p:sp>
      <p:sp>
        <p:nvSpPr>
          <p:cNvPr id="158" name="Text 156"/>
          <p:cNvSpPr/>
          <p:nvPr/>
        </p:nvSpPr>
        <p:spPr>
          <a:xfrm>
            <a:off x="6971519" y="4769011"/>
            <a:ext cx="74759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Session stdin</a:t>
            </a:r>
            <a:endParaRPr lang="en-US" sz="591" dirty="0"/>
          </a:p>
        </p:txBody>
      </p:sp>
      <p:sp>
        <p:nvSpPr>
          <p:cNvPr id="159" name="Text 157"/>
          <p:cNvSpPr/>
          <p:nvPr/>
        </p:nvSpPr>
        <p:spPr>
          <a:xfrm>
            <a:off x="4836319" y="4885209"/>
            <a:ext cx="61599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highlight>
                  <a:srgbClr val="7A5B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self.manager.</a:t>
            </a:r>
            <a:endParaRPr lang="en-US" sz="591" dirty="0"/>
          </a:p>
        </p:txBody>
      </p:sp>
      <p:sp>
        <p:nvSpPr>
          <p:cNvPr id="160" name="Text 158"/>
          <p:cNvSpPr/>
          <p:nvPr/>
        </p:nvSpPr>
        <p:spPr>
          <a:xfrm>
            <a:off x="5406591" y="4885209"/>
            <a:ext cx="65985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set_pty_writer</a:t>
            </a:r>
            <a:endParaRPr lang="en-US" sz="591" dirty="0"/>
          </a:p>
        </p:txBody>
      </p:sp>
      <p:sp>
        <p:nvSpPr>
          <p:cNvPr id="161" name="Text 159"/>
          <p:cNvSpPr/>
          <p:nvPr/>
        </p:nvSpPr>
        <p:spPr>
          <a:xfrm>
            <a:off x="6020730" y="4885209"/>
            <a:ext cx="83532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highlight>
                  <a:srgbClr val="7A5B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(&amp;task_id, writer)</a:t>
            </a:r>
            <a:endParaRPr lang="en-US" sz="591" dirty="0"/>
          </a:p>
        </p:txBody>
      </p:sp>
      <p:sp>
        <p:nvSpPr>
          <p:cNvPr id="162" name="Text 160"/>
          <p:cNvSpPr/>
          <p:nvPr/>
        </p:nvSpPr>
        <p:spPr>
          <a:xfrm>
            <a:off x="6824625" y="4885209"/>
            <a:ext cx="1773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dirty="0">
                <a:solidFill>
                  <a:srgbClr val="0D1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 </a:t>
            </a:r>
            <a:endParaRPr lang="en-US" sz="591" dirty="0"/>
          </a:p>
        </p:txBody>
      </p:sp>
      <p:sp>
        <p:nvSpPr>
          <p:cNvPr id="163" name="Text 161"/>
          <p:cNvSpPr/>
          <p:nvPr/>
        </p:nvSpPr>
        <p:spPr>
          <a:xfrm>
            <a:off x="6956227" y="4885209"/>
            <a:ext cx="70595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注册到 BgTask</a:t>
            </a:r>
            <a:endParaRPr lang="en-US" sz="591" dirty="0"/>
          </a:p>
        </p:txBody>
      </p:sp>
      <p:sp>
        <p:nvSpPr>
          <p:cNvPr id="164" name="Text 162"/>
          <p:cNvSpPr/>
          <p:nvPr/>
        </p:nvSpPr>
        <p:spPr>
          <a:xfrm>
            <a:off x="4822031" y="5117604"/>
            <a:ext cx="14262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随后 Session 工具通过 sid 调用:</a:t>
            </a:r>
            <a:endParaRPr lang="en-US" sz="591" dirty="0"/>
          </a:p>
        </p:txBody>
      </p:sp>
      <p:sp>
        <p:nvSpPr>
          <p:cNvPr id="165" name="Text 163"/>
          <p:cNvSpPr/>
          <p:nvPr/>
        </p:nvSpPr>
        <p:spPr>
          <a:xfrm>
            <a:off x="4822031" y="5233801"/>
            <a:ext cx="237067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  session_stdin(sid, text)  → PTY writer.write_all</a:t>
            </a:r>
            <a:endParaRPr lang="en-US" sz="591" dirty="0"/>
          </a:p>
        </p:txBody>
      </p:sp>
      <p:sp>
        <p:nvSpPr>
          <p:cNvPr id="166" name="Text 164"/>
          <p:cNvSpPr/>
          <p:nvPr/>
        </p:nvSpPr>
        <p:spPr>
          <a:xfrm>
            <a:off x="4822031" y="5349999"/>
            <a:ext cx="25206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  session_stdout(sid, ms)   → 读 output_buffer 新增部分</a:t>
            </a:r>
            <a:endParaRPr lang="en-US" sz="591" dirty="0"/>
          </a:p>
        </p:txBody>
      </p:sp>
      <p:sp>
        <p:nvSpPr>
          <p:cNvPr id="167" name="Text 165"/>
          <p:cNvSpPr/>
          <p:nvPr/>
        </p:nvSpPr>
        <p:spPr>
          <a:xfrm>
            <a:off x="4822031" y="5466197"/>
            <a:ext cx="237078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1" i="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  session_quit(sid)         → drop writer → SIGHUP</a:t>
            </a:r>
            <a:endParaRPr lang="en-US" sz="591" dirty="0"/>
          </a:p>
        </p:txBody>
      </p:sp>
      <p:sp>
        <p:nvSpPr>
          <p:cNvPr id="168" name="Text 166"/>
          <p:cNvSpPr/>
          <p:nvPr/>
        </p:nvSpPr>
        <p:spPr>
          <a:xfrm>
            <a:off x="228600" y="4887776"/>
            <a:ext cx="157392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#adopt_process #portable_pty</a:t>
            </a:r>
            <a:endParaRPr lang="en-US" sz="73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0"/>
            <a:ext cx="1620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Agent 协作：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514350" y="257175"/>
            <a:ext cx="179694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聊天室 + 客观评估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849995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4293394" cy="849995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72021" y="195783"/>
            <a:ext cx="130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highlight>
                  <a:srgbClr val="1E3A8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85775" y="178594"/>
            <a:ext cx="50314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Teammate</a:t>
            </a:r>
            <a:endParaRPr lang="en-US" sz="731" dirty="0"/>
          </a:p>
        </p:txBody>
      </p:sp>
      <p:sp>
        <p:nvSpPr>
          <p:cNvPr id="9" name="Text 7"/>
          <p:cNvSpPr/>
          <p:nvPr/>
        </p:nvSpPr>
        <p:spPr>
          <a:xfrm>
            <a:off x="485775" y="348593"/>
            <a:ext cx="32457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 Agent 实例，各有专属上下文和工具，通过 SendMessage 广播 + @提及 通信。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72021" y="592931"/>
            <a:ext cx="130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highlight>
                  <a:srgbClr val="1E5E3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85775" y="575742"/>
            <a:ext cx="46619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SubAgent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485775" y="745741"/>
            <a:ext cx="388113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临时子 Agent，用于委派调研任务或并行开发。主 Agent 只可见最终结果，以低上下文成本获取信息。</a:t>
            </a:r>
            <a:endParaRPr lang="en-US" sz="675" dirty="0"/>
          </a:p>
        </p:txBody>
      </p:sp>
      <p:sp>
        <p:nvSpPr>
          <p:cNvPr id="13" name="Shape 11"/>
          <p:cNvSpPr/>
          <p:nvPr/>
        </p:nvSpPr>
        <p:spPr>
          <a:xfrm>
            <a:off x="4622006" y="171450"/>
            <a:ext cx="4293394" cy="849995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4665427" y="195783"/>
            <a:ext cx="130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highlight>
                  <a:srgbClr val="7A5B0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879181" y="178594"/>
            <a:ext cx="95721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Two-Staged Commit</a:t>
            </a:r>
            <a:endParaRPr lang="en-US" sz="731" dirty="0"/>
          </a:p>
        </p:txBody>
      </p:sp>
      <p:sp>
        <p:nvSpPr>
          <p:cNvPr id="16" name="Text 14"/>
          <p:cNvSpPr/>
          <p:nvPr/>
        </p:nvSpPr>
        <p:spPr>
          <a:xfrm>
            <a:off x="4879181" y="348593"/>
            <a:ext cx="32477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SendMessage + Message Inbox 的两阶段提交机制，解决 Agent Loop 长时序导致的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081256" y="348593"/>
            <a:ext cx="38415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重复消息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8419691" y="348593"/>
            <a:ext cx="29954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问题。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65427" y="592931"/>
            <a:ext cx="130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highlight>
                  <a:srgbClr val="0F172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④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879181" y="575742"/>
            <a:ext cx="4127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客观评估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4879181" y="745741"/>
            <a:ext cx="4053922" cy="26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 Anthropic 的研究——模型倾向偏袒自己的工作。通过聊天室让其他 Agent 交叉评审，实现相对客观的质量评估。</a:t>
            </a:r>
            <a:endParaRPr lang="en-US" sz="6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0"/>
            <a:ext cx="236956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Two-Staged Commit：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514350" y="257175"/>
            <a:ext cx="346701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消除 Agent Loop 长时序的重复消息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1372605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4293394" cy="1372605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28600" y="164306"/>
            <a:ext cx="19477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7A1F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反例 · 无 2PC：Agent Loop 长时序的灾难</a:t>
            </a:r>
            <a:endParaRPr lang="en-US" sz="788" dirty="0"/>
          </a:p>
        </p:txBody>
      </p:sp>
      <p:sp>
        <p:nvSpPr>
          <p:cNvPr id="8" name="Shape 6"/>
          <p:cNvSpPr/>
          <p:nvPr/>
        </p:nvSpPr>
        <p:spPr>
          <a:xfrm>
            <a:off x="228600" y="387102"/>
            <a:ext cx="4293394" cy="1156953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044" y="529977"/>
            <a:ext cx="448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A: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809588" y="529977"/>
            <a:ext cx="98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我搞定了 auth 模块。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07194" y="718505"/>
            <a:ext cx="103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广播... loop 卡顿 3s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50044" y="907033"/>
            <a:ext cx="448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A: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809588" y="907033"/>
            <a:ext cx="98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我搞定了 auth 模块。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753791" y="907033"/>
            <a:ext cx="365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← 重发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50044" y="1095561"/>
            <a:ext cx="448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A: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809588" y="1095561"/>
            <a:ext cx="98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我搞定了 auth 模块。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753791" y="1095561"/>
            <a:ext cx="365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← 重发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50044" y="1284089"/>
            <a:ext cx="9761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7A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用户视角：怎么说三遍？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4622006" y="171450"/>
            <a:ext cx="4293394" cy="1372605"/>
          </a:xfrm>
          <a:prstGeom prst="rect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4622006" y="164306"/>
            <a:ext cx="23378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E5E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正例 · 有 2PC：SendMessage + Inbox 两阶段提交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4622006" y="387102"/>
            <a:ext cx="4293394" cy="1135633"/>
          </a:xfrm>
          <a:prstGeom prst="roundRect">
            <a:avLst>
              <a:gd name="adj" fmla="val 2478"/>
            </a:avLst>
          </a:prstGeom>
          <a:noFill/>
          <a:ln w="12700">
            <a:solidFill>
              <a:srgbClr val="1428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9150" y="394246"/>
            <a:ext cx="1426294" cy="294233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271" y="472827"/>
            <a:ext cx="397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1B2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A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6055444" y="394246"/>
            <a:ext cx="1426406" cy="294233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41653" y="472827"/>
            <a:ext cx="6995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1B2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 Inbox</a:t>
            </a:r>
            <a:endParaRPr lang="en-US" sz="675" dirty="0"/>
          </a:p>
        </p:txBody>
      </p:sp>
      <p:sp>
        <p:nvSpPr>
          <p:cNvPr id="26" name="Shape 24"/>
          <p:cNvSpPr/>
          <p:nvPr/>
        </p:nvSpPr>
        <p:spPr>
          <a:xfrm>
            <a:off x="7481850" y="394246"/>
            <a:ext cx="1426406" cy="294233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7893286" y="472827"/>
            <a:ext cx="64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1B2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B / UI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4629150" y="688479"/>
            <a:ext cx="1426294" cy="413556"/>
          </a:xfrm>
          <a:prstGeom prst="rect">
            <a:avLst/>
          </a:prstGeom>
          <a:solidFill>
            <a:srgbClr val="F5F8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6313" y="788491"/>
            <a:ext cx="11604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</a:t>
            </a:r>
            <a:endParaRPr lang="en-US" sz="563" dirty="0"/>
          </a:p>
        </p:txBody>
      </p:sp>
      <p:sp>
        <p:nvSpPr>
          <p:cNvPr id="30" name="Text 28"/>
          <p:cNvSpPr/>
          <p:nvPr/>
        </p:nvSpPr>
        <p:spPr>
          <a:xfrm>
            <a:off x="4956646" y="767060"/>
            <a:ext cx="5890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5F8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SendMessage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729163" y="906363"/>
            <a:ext cx="7223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5F8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(stage 1: prepare)</a:t>
            </a:r>
            <a:endParaRPr lang="en-US" sz="675" dirty="0"/>
          </a:p>
        </p:txBody>
      </p:sp>
      <p:sp>
        <p:nvSpPr>
          <p:cNvPr id="32" name="Shape 30"/>
          <p:cNvSpPr/>
          <p:nvPr/>
        </p:nvSpPr>
        <p:spPr>
          <a:xfrm>
            <a:off x="6055444" y="688479"/>
            <a:ext cx="1426406" cy="413556"/>
          </a:xfrm>
          <a:prstGeom prst="rect">
            <a:avLst/>
          </a:prstGeom>
          <a:solidFill>
            <a:srgbClr val="FBF8F0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2607" y="788491"/>
            <a:ext cx="11604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</a:t>
            </a:r>
            <a:endParaRPr lang="en-US" sz="563" dirty="0"/>
          </a:p>
        </p:txBody>
      </p:sp>
      <p:sp>
        <p:nvSpPr>
          <p:cNvPr id="34" name="Text 32"/>
          <p:cNvSpPr/>
          <p:nvPr/>
        </p:nvSpPr>
        <p:spPr>
          <a:xfrm>
            <a:off x="6382941" y="767060"/>
            <a:ext cx="5508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BF8F0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暂存 pending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6155457" y="906363"/>
            <a:ext cx="38415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BF8F0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等待确认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7481850" y="688479"/>
            <a:ext cx="1426406" cy="413556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9150" y="1102035"/>
            <a:ext cx="1426294" cy="413556"/>
          </a:xfrm>
          <a:prstGeom prst="rect">
            <a:avLst/>
          </a:prstGeom>
          <a:solidFill>
            <a:srgbClr val="F5F8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6313" y="1202048"/>
            <a:ext cx="11604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</a:t>
            </a:r>
            <a:endParaRPr lang="en-US" sz="563" dirty="0"/>
          </a:p>
        </p:txBody>
      </p:sp>
      <p:sp>
        <p:nvSpPr>
          <p:cNvPr id="39" name="Text 37"/>
          <p:cNvSpPr/>
          <p:nvPr/>
        </p:nvSpPr>
        <p:spPr>
          <a:xfrm>
            <a:off x="4956646" y="1180616"/>
            <a:ext cx="38415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5F8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确认提交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729163" y="1319919"/>
            <a:ext cx="73062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5F8FF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(stage 2: commit)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6055444" y="1102035"/>
            <a:ext cx="1426406" cy="413556"/>
          </a:xfrm>
          <a:prstGeom prst="rect">
            <a:avLst/>
          </a:prstGeom>
          <a:solidFill>
            <a:srgbClr val="FBF8F0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2607" y="1202048"/>
            <a:ext cx="11604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</a:t>
            </a:r>
            <a:endParaRPr lang="en-US" sz="563" dirty="0"/>
          </a:p>
        </p:txBody>
      </p:sp>
      <p:sp>
        <p:nvSpPr>
          <p:cNvPr id="43" name="Text 41"/>
          <p:cNvSpPr/>
          <p:nvPr/>
        </p:nvSpPr>
        <p:spPr>
          <a:xfrm>
            <a:off x="6382941" y="1180616"/>
            <a:ext cx="76835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BF8F0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 → committed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7481850" y="1102035"/>
            <a:ext cx="1426406" cy="413556"/>
          </a:xfrm>
          <a:prstGeom prst="rect">
            <a:avLst/>
          </a:prstGeom>
          <a:solidFill>
            <a:srgbClr val="F8F8FB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9013" y="1202048"/>
            <a:ext cx="11604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</a:t>
            </a:r>
            <a:endParaRPr lang="en-US" sz="563" dirty="0"/>
          </a:p>
        </p:txBody>
      </p:sp>
      <p:sp>
        <p:nvSpPr>
          <p:cNvPr id="46" name="Text 44"/>
          <p:cNvSpPr/>
          <p:nvPr/>
        </p:nvSpPr>
        <p:spPr>
          <a:xfrm>
            <a:off x="7809347" y="1180616"/>
            <a:ext cx="2149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8F8FB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对外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7978564" y="1180616"/>
            <a:ext cx="46865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仅可见一次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3260899" y="1636923"/>
            <a:ext cx="26678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对外：用户体验一致，无重复消息。对内：上下文不被冗余消息污染。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228600" y="4887776"/>
            <a:ext cx="108279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#2pc #message-inbox</a:t>
            </a:r>
            <a:endParaRPr lang="en-US" sz="73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三个实验：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575308" y="257175"/>
            <a:ext cx="251656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 Teammate 协作能力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1581113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2828925" cy="1581113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044" y="307181"/>
            <a:ext cx="79581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EXPERIMENT · 01</a:t>
            </a:r>
            <a:endParaRPr lang="en-US" sz="563" dirty="0"/>
          </a:p>
        </p:txBody>
      </p:sp>
      <p:sp>
        <p:nvSpPr>
          <p:cNvPr id="8" name="Text 6"/>
          <p:cNvSpPr/>
          <p:nvPr/>
        </p:nvSpPr>
        <p:spPr>
          <a:xfrm>
            <a:off x="400050" y="500063"/>
            <a:ext cx="327005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基础协调</a:t>
            </a:r>
            <a:endParaRPr lang="en-US" sz="563" dirty="0"/>
          </a:p>
        </p:txBody>
      </p:sp>
      <p:sp>
        <p:nvSpPr>
          <p:cNvPr id="9" name="Text 7"/>
          <p:cNvSpPr/>
          <p:nvPr/>
        </p:nvSpPr>
        <p:spPr>
          <a:xfrm>
            <a:off x="350044" y="1523963"/>
            <a:ext cx="796707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probe: turn-taking</a:t>
            </a:r>
            <a:endParaRPr lang="en-US" sz="563" dirty="0"/>
          </a:p>
        </p:txBody>
      </p:sp>
      <p:sp>
        <p:nvSpPr>
          <p:cNvPr id="10" name="Text 8"/>
          <p:cNvSpPr/>
          <p:nvPr/>
        </p:nvSpPr>
        <p:spPr>
          <a:xfrm>
            <a:off x="350044" y="678656"/>
            <a:ext cx="4698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轮流报数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350044" y="882253"/>
            <a:ext cx="215814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多个 Agent 轮流报出递增整数 1, 2, 3, …，检验最基本的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462473" y="882253"/>
            <a:ext cx="38415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顺序协调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800908" y="882253"/>
            <a:ext cx="13032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和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50044" y="1015082"/>
            <a:ext cx="38415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避免抢话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88479" y="1015082"/>
            <a:ext cx="29954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能力。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50044" y="1205061"/>
            <a:ext cx="23610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暴露 Agent Loop 长时序导致的重复消息问题；驱动了 2PC 设计</a:t>
            </a:r>
            <a:endParaRPr lang="en-US" sz="619" dirty="0"/>
          </a:p>
        </p:txBody>
      </p:sp>
      <p:sp>
        <p:nvSpPr>
          <p:cNvPr id="17" name="Shape 15"/>
          <p:cNvSpPr/>
          <p:nvPr/>
        </p:nvSpPr>
        <p:spPr>
          <a:xfrm>
            <a:off x="3157538" y="171450"/>
            <a:ext cx="2828925" cy="1581113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8981" y="307181"/>
            <a:ext cx="79581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EXPERIMENT · 02</a:t>
            </a:r>
            <a:endParaRPr lang="en-US" sz="563" dirty="0"/>
          </a:p>
        </p:txBody>
      </p:sp>
      <p:sp>
        <p:nvSpPr>
          <p:cNvPr id="19" name="Text 17"/>
          <p:cNvSpPr/>
          <p:nvPr/>
        </p:nvSpPr>
        <p:spPr>
          <a:xfrm>
            <a:off x="3328988" y="500063"/>
            <a:ext cx="397215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上下文共享</a:t>
            </a:r>
            <a:endParaRPr lang="en-US" sz="563" dirty="0"/>
          </a:p>
        </p:txBody>
      </p:sp>
      <p:sp>
        <p:nvSpPr>
          <p:cNvPr id="20" name="Text 18"/>
          <p:cNvSpPr/>
          <p:nvPr/>
        </p:nvSpPr>
        <p:spPr>
          <a:xfrm>
            <a:off x="3278981" y="1523963"/>
            <a:ext cx="9635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probe: context-sharing</a:t>
            </a:r>
            <a:endParaRPr lang="en-US" sz="563" dirty="0"/>
          </a:p>
        </p:txBody>
      </p:sp>
      <p:sp>
        <p:nvSpPr>
          <p:cNvPr id="21" name="Text 19"/>
          <p:cNvSpPr/>
          <p:nvPr/>
        </p:nvSpPr>
        <p:spPr>
          <a:xfrm>
            <a:off x="3278981" y="678656"/>
            <a:ext cx="4698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续写接龙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3278981" y="882253"/>
            <a:ext cx="230147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给一句开头，多个 Agent 轮流续写一段故事。每个 Agent 要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278981" y="882253"/>
            <a:ext cx="2555297" cy="25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读懂前文风格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532808" y="1015082"/>
            <a:ext cx="13032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、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617416" y="1015082"/>
            <a:ext cx="38415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承接情节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3955852" y="1015082"/>
            <a:ext cx="5532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，不能跑题。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278981" y="1205061"/>
            <a:ext cx="2301247" cy="23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验证 shared_messages 广播机制是否真的把上下文带到了每个 Teammate</a:t>
            </a:r>
            <a:endParaRPr lang="en-US" sz="619" dirty="0"/>
          </a:p>
        </p:txBody>
      </p:sp>
      <p:sp>
        <p:nvSpPr>
          <p:cNvPr id="28" name="Shape 26"/>
          <p:cNvSpPr/>
          <p:nvPr/>
        </p:nvSpPr>
        <p:spPr>
          <a:xfrm>
            <a:off x="6086475" y="171450"/>
            <a:ext cx="2828925" cy="1581113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7919" y="307181"/>
            <a:ext cx="79581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EXPERIMENT · 03</a:t>
            </a:r>
            <a:endParaRPr lang="en-US" sz="563" dirty="0"/>
          </a:p>
        </p:txBody>
      </p:sp>
      <p:sp>
        <p:nvSpPr>
          <p:cNvPr id="30" name="Text 28"/>
          <p:cNvSpPr/>
          <p:nvPr/>
        </p:nvSpPr>
        <p:spPr>
          <a:xfrm>
            <a:off x="6257925" y="500063"/>
            <a:ext cx="46753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真实协作开发</a:t>
            </a:r>
            <a:endParaRPr lang="en-US" sz="563" dirty="0"/>
          </a:p>
        </p:txBody>
      </p:sp>
      <p:sp>
        <p:nvSpPr>
          <p:cNvPr id="31" name="Text 29"/>
          <p:cNvSpPr/>
          <p:nvPr/>
        </p:nvSpPr>
        <p:spPr>
          <a:xfrm>
            <a:off x="6207919" y="1523963"/>
            <a:ext cx="1923187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ref: anthropic.com/engineering/harness-design</a:t>
            </a:r>
            <a:endParaRPr lang="en-US" sz="563" dirty="0"/>
          </a:p>
        </p:txBody>
      </p:sp>
      <p:sp>
        <p:nvSpPr>
          <p:cNvPr id="32" name="Text 30"/>
          <p:cNvSpPr/>
          <p:nvPr/>
        </p:nvSpPr>
        <p:spPr>
          <a:xfrm>
            <a:off x="6207919" y="678656"/>
            <a:ext cx="68184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协作测试开发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6207919" y="882253"/>
            <a:ext cx="21940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分工：A 写代码，B 写测试，C 评审。参考 Anthropic 的 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207919" y="882253"/>
            <a:ext cx="2545809" cy="25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harness-design-long-running-apps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7254032" y="1015082"/>
            <a:ext cx="2149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7423249" y="1015082"/>
            <a:ext cx="84157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让另一个 Agent 评审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6207919" y="1015082"/>
            <a:ext cx="2395344" cy="25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，避免单 Agent 自我满意偏袒。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6207919" y="1337890"/>
            <a:ext cx="1542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长期运行的真实工程场景；客观质量评估</a:t>
            </a:r>
            <a:endParaRPr lang="en-US" sz="619" dirty="0"/>
          </a:p>
        </p:txBody>
      </p:sp>
      <p:sp>
        <p:nvSpPr>
          <p:cNvPr id="39" name="Text 37"/>
          <p:cNvSpPr/>
          <p:nvPr/>
        </p:nvSpPr>
        <p:spPr>
          <a:xfrm>
            <a:off x="228600" y="4887776"/>
            <a:ext cx="124654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#teammate #experiments</a:t>
            </a:r>
            <a:endParaRPr lang="en-US" sz="73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23225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SubAgent：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700882" y="257175"/>
            <a:ext cx="13187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低上下文成本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2973921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的调研委派</a:t>
            </a:r>
            <a:endParaRPr lang="en-US" sz="1688" dirty="0"/>
          </a:p>
        </p:txBody>
      </p:sp>
      <p:sp>
        <p:nvSpPr>
          <p:cNvPr id="6" name="Shape 4"/>
          <p:cNvSpPr/>
          <p:nvPr/>
        </p:nvSpPr>
        <p:spPr>
          <a:xfrm>
            <a:off x="228600" y="171450"/>
            <a:ext cx="8686800" cy="2314352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857625" y="171450"/>
            <a:ext cx="1428750" cy="535670"/>
          </a:xfrm>
          <a:prstGeom prst="roundRect">
            <a:avLst>
              <a:gd name="adj" fmla="val 5252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69743" y="278606"/>
            <a:ext cx="450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 Agent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4295961" y="481422"/>
            <a:ext cx="59779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context: 38%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1097235" y="821420"/>
            <a:ext cx="6949418" cy="14287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228600" y="1078595"/>
            <a:ext cx="8686800" cy="970099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228600" y="1078595"/>
            <a:ext cx="2838413" cy="970099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9131" y="1235757"/>
            <a:ext cx="46296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SubAgent A</a:t>
            </a:r>
            <a:endParaRPr lang="en-US" sz="563" dirty="0"/>
          </a:p>
        </p:txBody>
      </p:sp>
      <p:sp>
        <p:nvSpPr>
          <p:cNvPr id="14" name="Text 12"/>
          <p:cNvSpPr/>
          <p:nvPr/>
        </p:nvSpPr>
        <p:spPr>
          <a:xfrm>
            <a:off x="1339565" y="1400063"/>
            <a:ext cx="66209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 auth 模块</a:t>
            </a:r>
            <a:endParaRPr lang="en-US" sz="731" dirty="0"/>
          </a:p>
        </p:txBody>
      </p:sp>
      <p:sp>
        <p:nvSpPr>
          <p:cNvPr id="15" name="Text 13"/>
          <p:cNvSpPr/>
          <p:nvPr/>
        </p:nvSpPr>
        <p:spPr>
          <a:xfrm>
            <a:off x="1416025" y="1570062"/>
            <a:ext cx="509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 12 文件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1474738" y="1687934"/>
            <a:ext cx="3918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Grep 8 次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1294581" y="1848669"/>
            <a:ext cx="75217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独立窗口 ~22K tokens</a:t>
            </a:r>
            <a:endParaRPr lang="en-US" sz="563" dirty="0"/>
          </a:p>
        </p:txBody>
      </p:sp>
      <p:sp>
        <p:nvSpPr>
          <p:cNvPr id="18" name="Shape 16"/>
          <p:cNvSpPr/>
          <p:nvPr/>
        </p:nvSpPr>
        <p:spPr>
          <a:xfrm>
            <a:off x="3152738" y="1078595"/>
            <a:ext cx="2838413" cy="970099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3269" y="1235757"/>
            <a:ext cx="46296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SubAgent B</a:t>
            </a:r>
            <a:endParaRPr lang="en-US" sz="563" dirty="0"/>
          </a:p>
        </p:txBody>
      </p:sp>
      <p:sp>
        <p:nvSpPr>
          <p:cNvPr id="20" name="Text 18"/>
          <p:cNvSpPr/>
          <p:nvPr/>
        </p:nvSpPr>
        <p:spPr>
          <a:xfrm>
            <a:off x="4241267" y="1400063"/>
            <a:ext cx="7070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 storage 层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4340163" y="1570062"/>
            <a:ext cx="509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 18 文件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4322080" y="1687934"/>
            <a:ext cx="5453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Glob 项目结构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4225751" y="1848669"/>
            <a:ext cx="73799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独立窗口 ~31K tokens</a:t>
            </a:r>
            <a:endParaRPr lang="en-US" sz="563" dirty="0"/>
          </a:p>
        </p:txBody>
      </p:sp>
      <p:sp>
        <p:nvSpPr>
          <p:cNvPr id="24" name="Shape 22"/>
          <p:cNvSpPr/>
          <p:nvPr/>
        </p:nvSpPr>
        <p:spPr>
          <a:xfrm>
            <a:off x="6076876" y="1078595"/>
            <a:ext cx="2838524" cy="970099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87518" y="1235757"/>
            <a:ext cx="46296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SubAgent C</a:t>
            </a:r>
            <a:endParaRPr lang="en-US" sz="563" dirty="0"/>
          </a:p>
        </p:txBody>
      </p:sp>
      <p:sp>
        <p:nvSpPr>
          <p:cNvPr id="26" name="Text 24"/>
          <p:cNvSpPr/>
          <p:nvPr/>
        </p:nvSpPr>
        <p:spPr>
          <a:xfrm>
            <a:off x="7176901" y="1400063"/>
            <a:ext cx="6840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 hook 系统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7227577" y="1570062"/>
            <a:ext cx="582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WebFetch 文档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7283500" y="1687934"/>
            <a:ext cx="4709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 README</a:t>
            </a:r>
            <a:endParaRPr lang="en-US" sz="619" dirty="0"/>
          </a:p>
        </p:txBody>
      </p:sp>
      <p:sp>
        <p:nvSpPr>
          <p:cNvPr id="29" name="Text 27"/>
          <p:cNvSpPr/>
          <p:nvPr/>
        </p:nvSpPr>
        <p:spPr>
          <a:xfrm>
            <a:off x="7150001" y="1848669"/>
            <a:ext cx="73799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独立窗口 ~18K tokens</a:t>
            </a:r>
            <a:endParaRPr lang="en-US" sz="563" dirty="0"/>
          </a:p>
        </p:txBody>
      </p:sp>
      <p:sp>
        <p:nvSpPr>
          <p:cNvPr id="30" name="Shape 28"/>
          <p:cNvSpPr/>
          <p:nvPr/>
        </p:nvSpPr>
        <p:spPr>
          <a:xfrm>
            <a:off x="3013658" y="2234431"/>
            <a:ext cx="3116684" cy="251371"/>
          </a:xfrm>
          <a:prstGeom prst="roundRect">
            <a:avLst>
              <a:gd name="adj" fmla="val 5596"/>
            </a:avLst>
          </a:prstGeom>
          <a:solidFill>
            <a:srgbClr val="F3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3127958" y="2298725"/>
            <a:ext cx="111639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675" dirty="0"/>
          </a:p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3F5F9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    ↑ 三份调研只回灌主 Agent 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198627" y="2298725"/>
            <a:ext cx="5532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三段精简摘要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706169" y="2298725"/>
            <a:ext cx="13698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3F5F9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(~1.5K tokens)，主窗口仅微增 4%</a:t>
            </a:r>
            <a:endParaRPr lang="en-US" sz="675" dirty="0"/>
          </a:p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3F5F9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  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228600" y="4887776"/>
            <a:ext cx="157392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#subagent #parallel-research</a:t>
            </a:r>
            <a:endParaRPr lang="en-US" sz="73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3187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健壮性设计：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787389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错误处理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2636155" y="257175"/>
            <a:ext cx="134554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Hook 系统</a:t>
            </a:r>
            <a:endParaRPr lang="en-US" sz="1688" dirty="0"/>
          </a:p>
        </p:txBody>
      </p:sp>
      <p:sp>
        <p:nvSpPr>
          <p:cNvPr id="6" name="Shape 4"/>
          <p:cNvSpPr/>
          <p:nvPr/>
        </p:nvSpPr>
        <p:spPr>
          <a:xfrm>
            <a:off x="228600" y="171450"/>
            <a:ext cx="8686800" cy="1714054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" y="171450"/>
            <a:ext cx="4293394" cy="1714054"/>
          </a:xfrm>
          <a:prstGeom prst="roundRect">
            <a:avLst>
              <a:gd name="adj" fmla="val 1641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8619" y="307181"/>
            <a:ext cx="98188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指数退避重试</a:t>
            </a:r>
            <a:endParaRPr lang="en-US" sz="1238" dirty="0"/>
          </a:p>
        </p:txBody>
      </p:sp>
      <p:sp>
        <p:nvSpPr>
          <p:cNvPr id="9" name="Shape 7"/>
          <p:cNvSpPr/>
          <p:nvPr/>
        </p:nvSpPr>
        <p:spPr>
          <a:xfrm>
            <a:off x="378619" y="575742"/>
            <a:ext cx="3993356" cy="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378619" y="640035"/>
            <a:ext cx="32338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 API 调用不可避免会遇到网络错误、限流、超时等问题。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8619" y="937171"/>
            <a:ext cx="2720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4986" y="937171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指数退避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8619" y="937171"/>
            <a:ext cx="392109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（Exponential Backoff）机制：第一次重试等 1 秒，第二次等 2 秒，第三次等 4 秒……自动处理瞬态故障，无需人工干预。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2006" y="171450"/>
            <a:ext cx="4293394" cy="1714054"/>
          </a:xfrm>
          <a:prstGeom prst="roundRect">
            <a:avLst>
              <a:gd name="adj" fmla="val 1641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2025" y="307181"/>
            <a:ext cx="79559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Hook 系统</a:t>
            </a:r>
            <a:endParaRPr lang="en-US" sz="1238" dirty="0"/>
          </a:p>
        </p:txBody>
      </p:sp>
      <p:sp>
        <p:nvSpPr>
          <p:cNvPr id="16" name="Shape 14"/>
          <p:cNvSpPr/>
          <p:nvPr/>
        </p:nvSpPr>
        <p:spPr>
          <a:xfrm>
            <a:off x="4772025" y="575742"/>
            <a:ext cx="3993356" cy="0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4772025" y="640035"/>
            <a:ext cx="2720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98393" y="640035"/>
            <a:ext cx="4984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回归测试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51128" y="640035"/>
            <a:ext cx="117733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和工程规范强制执行：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00613" y="944314"/>
            <a:ext cx="4734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禁止使用 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5371207" y="958602"/>
            <a:ext cx="36294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9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mod.rs</a:t>
            </a:r>
            <a:endParaRPr lang="en-US" sz="709" dirty="0"/>
          </a:p>
        </p:txBody>
      </p:sp>
      <p:sp>
        <p:nvSpPr>
          <p:cNvPr id="22" name="Text 20"/>
          <p:cNvSpPr/>
          <p:nvPr/>
        </p:nvSpPr>
        <p:spPr>
          <a:xfrm>
            <a:off x="5731297" y="944314"/>
            <a:ext cx="3745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，强制 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6102995" y="958602"/>
            <a:ext cx="8387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9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name.rs + name/</a:t>
            </a:r>
            <a:endParaRPr lang="en-US" sz="709" dirty="0"/>
          </a:p>
        </p:txBody>
      </p:sp>
      <p:sp>
        <p:nvSpPr>
          <p:cNvPr id="24" name="Text 22"/>
          <p:cNvSpPr/>
          <p:nvPr/>
        </p:nvSpPr>
        <p:spPr>
          <a:xfrm>
            <a:off x="6938925" y="944314"/>
            <a:ext cx="275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模式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900613" y="1124248"/>
            <a:ext cx="1079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禁止可能导致 panic 的 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5977086" y="1138535"/>
            <a:ext cx="46865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9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unwrap()</a:t>
            </a:r>
            <a:endParaRPr lang="en-US" sz="709" dirty="0"/>
          </a:p>
        </p:txBody>
      </p:sp>
      <p:sp>
        <p:nvSpPr>
          <p:cNvPr id="27" name="Text 25"/>
          <p:cNvSpPr/>
          <p:nvPr/>
        </p:nvSpPr>
        <p:spPr>
          <a:xfrm>
            <a:off x="6442881" y="1124248"/>
            <a:ext cx="159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/ 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6599039" y="1138535"/>
            <a:ext cx="46865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9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expect()</a:t>
            </a:r>
            <a:endParaRPr lang="en-US" sz="709" dirty="0"/>
          </a:p>
        </p:txBody>
      </p:sp>
      <p:sp>
        <p:nvSpPr>
          <p:cNvPr id="29" name="Text 27"/>
          <p:cNvSpPr/>
          <p:nvPr/>
        </p:nvSpPr>
        <p:spPr>
          <a:xfrm>
            <a:off x="4900613" y="1304181"/>
            <a:ext cx="11333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变更内容必须沉淀为文档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4900613" y="1484114"/>
            <a:ext cx="6711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代码必须通过 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5568888" y="1498402"/>
            <a:ext cx="5215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9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 fmt</a:t>
            </a:r>
            <a:endParaRPr lang="en-US" sz="709" dirty="0"/>
          </a:p>
        </p:txBody>
      </p:sp>
      <p:sp>
        <p:nvSpPr>
          <p:cNvPr id="32" name="Text 30"/>
          <p:cNvSpPr/>
          <p:nvPr/>
        </p:nvSpPr>
        <p:spPr>
          <a:xfrm>
            <a:off x="6087591" y="1484114"/>
            <a:ext cx="209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和 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6293755" y="1498402"/>
            <a:ext cx="36294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9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clippy</a:t>
            </a:r>
            <a:endParaRPr lang="en-US" sz="709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35291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TodoWrite + 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821545" y="257175"/>
            <a:ext cx="200734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&lt;system_reminder&gt;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3783174" y="257175"/>
            <a:ext cx="13187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：防遗忘机制</a:t>
            </a:r>
            <a:endParaRPr lang="en-US" sz="1688" dirty="0"/>
          </a:p>
        </p:txBody>
      </p:sp>
      <p:sp>
        <p:nvSpPr>
          <p:cNvPr id="6" name="Shape 4"/>
          <p:cNvSpPr/>
          <p:nvPr/>
        </p:nvSpPr>
        <p:spPr>
          <a:xfrm>
            <a:off x="228600" y="171450"/>
            <a:ext cx="8686800" cy="173671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" y="171450"/>
            <a:ext cx="4293394" cy="1736713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28600" y="164306"/>
            <a:ext cx="10556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TodoWrite/TodoRead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228600" y="401389"/>
            <a:ext cx="270699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在开始大任务前列出所有子任务。每完成一个就更新状态。</a:t>
            </a:r>
            <a:endParaRPr lang="en-US" sz="731" dirty="0"/>
          </a:p>
        </p:txBody>
      </p:sp>
      <p:sp>
        <p:nvSpPr>
          <p:cNvPr id="10" name="Text 8"/>
          <p:cNvSpPr/>
          <p:nvPr/>
        </p:nvSpPr>
        <p:spPr>
          <a:xfrm>
            <a:off x="2889870" y="401389"/>
            <a:ext cx="132992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避免遗漏变更、避免忘记目标。</a:t>
            </a:r>
            <a:endParaRPr lang="en-US" sz="731" dirty="0"/>
          </a:p>
        </p:txBody>
      </p:sp>
      <p:sp>
        <p:nvSpPr>
          <p:cNvPr id="11" name="Text 9"/>
          <p:cNvSpPr/>
          <p:nvPr/>
        </p:nvSpPr>
        <p:spPr>
          <a:xfrm>
            <a:off x="357188" y="649970"/>
            <a:ext cx="137959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[x] 改 ChatApp.update 增加 Action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57188" y="812825"/>
            <a:ext cx="11915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 handler/tui_loop.rs 调用点 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502978" y="812825"/>
            <a:ext cx="54857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(in_progress)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57188" y="975680"/>
            <a:ext cx="8320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 ] 写测试覆盖新分支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57188" y="1138535"/>
            <a:ext cx="102474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 ] 更新 CODEBUDDY.md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4622006" y="171450"/>
            <a:ext cx="4293394" cy="1736713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4622006" y="164306"/>
            <a:ext cx="10699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system_reminder 注入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4622006" y="401389"/>
            <a:ext cx="256422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Agent 长时间没有更新 TODO，系统在下一轮 prompt 尾部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7140513" y="401389"/>
            <a:ext cx="59612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动态注入提醒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7690917" y="401389"/>
            <a:ext cx="77962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，把它拉回正轨。</a:t>
            </a:r>
            <a:endParaRPr lang="en-US" sz="731" dirty="0"/>
          </a:p>
        </p:txBody>
      </p:sp>
      <p:sp>
        <p:nvSpPr>
          <p:cNvPr id="21" name="Shape 19"/>
          <p:cNvSpPr/>
          <p:nvPr/>
        </p:nvSpPr>
        <p:spPr>
          <a:xfrm>
            <a:off x="4622006" y="635682"/>
            <a:ext cx="4293394" cy="1272480"/>
          </a:xfrm>
          <a:prstGeom prst="roundRect">
            <a:avLst>
              <a:gd name="adj" fmla="val 2211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3450" y="778557"/>
            <a:ext cx="32175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Agent: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5076639" y="778557"/>
            <a:ext cx="143283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&lt;读了 5 个文件，跑了 3 次 grep…&gt;</a:t>
            </a:r>
            <a:endParaRPr lang="en-US" sz="619" dirty="0"/>
          </a:p>
        </p:txBody>
      </p:sp>
      <p:sp>
        <p:nvSpPr>
          <p:cNvPr id="24" name="Shape 22"/>
          <p:cNvSpPr/>
          <p:nvPr/>
        </p:nvSpPr>
        <p:spPr>
          <a:xfrm>
            <a:off x="4743450" y="962062"/>
            <a:ext cx="4050506" cy="619720"/>
          </a:xfrm>
          <a:prstGeom prst="roundRect">
            <a:avLst>
              <a:gd name="adj" fmla="val 2270"/>
            </a:avLst>
          </a:prstGeom>
          <a:solidFill>
            <a:srgbClr val="F3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829175" y="1019212"/>
            <a:ext cx="78186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7A5B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system_reminder: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4829175" y="1152711"/>
            <a:ext cx="225403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619" dirty="0"/>
          </a:p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You have 4 TODO items, last updated 8 turns ago.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4829175" y="1286210"/>
            <a:ext cx="50582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619" dirty="0"/>
          </a:p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Currently 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5289277" y="1286210"/>
            <a:ext cx="55181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in_progress</a:t>
            </a:r>
            <a:endParaRPr lang="en-US" sz="619" dirty="0"/>
          </a:p>
        </p:txBody>
      </p:sp>
      <p:sp>
        <p:nvSpPr>
          <p:cNvPr id="29" name="Text 27"/>
          <p:cNvSpPr/>
          <p:nvPr/>
        </p:nvSpPr>
        <p:spPr>
          <a:xfrm>
            <a:off x="5795367" y="1286210"/>
            <a:ext cx="150572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"改 handler/tui_loop.rs 调用点"</a:t>
            </a:r>
            <a:endParaRPr lang="en-US" sz="619" dirty="0"/>
          </a:p>
        </p:txBody>
      </p:sp>
      <p:sp>
        <p:nvSpPr>
          <p:cNvPr id="30" name="Text 28"/>
          <p:cNvSpPr/>
          <p:nvPr/>
        </p:nvSpPr>
        <p:spPr>
          <a:xfrm>
            <a:off x="4829175" y="1419709"/>
            <a:ext cx="322033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619" dirty="0"/>
          </a:p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→ Are you still working on it? Consider marking it done or splitting.</a:t>
            </a:r>
            <a:endParaRPr lang="en-US" sz="619" dirty="0"/>
          </a:p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4743450" y="1660364"/>
            <a:ext cx="32175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Agent:</a:t>
            </a:r>
            <a:endParaRPr lang="en-US" sz="619" dirty="0"/>
          </a:p>
        </p:txBody>
      </p:sp>
      <p:sp>
        <p:nvSpPr>
          <p:cNvPr id="32" name="Text 30"/>
          <p:cNvSpPr/>
          <p:nvPr/>
        </p:nvSpPr>
        <p:spPr>
          <a:xfrm>
            <a:off x="5076639" y="1660364"/>
            <a:ext cx="171110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我先把 in_progress 的标记完成，再继续……</a:t>
            </a:r>
            <a:endParaRPr lang="en-US" sz="619" dirty="0"/>
          </a:p>
        </p:txBody>
      </p:sp>
      <p:sp>
        <p:nvSpPr>
          <p:cNvPr id="33" name="Text 31"/>
          <p:cNvSpPr/>
          <p:nvPr/>
        </p:nvSpPr>
        <p:spPr>
          <a:xfrm>
            <a:off x="228600" y="4887776"/>
            <a:ext cx="124654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#todo #system-reminder</a:t>
            </a:r>
            <a:endParaRPr lang="en-US" sz="73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27634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Hook 系统：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744973" y="257175"/>
            <a:ext cx="138796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个事件钩子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3087216" y="257175"/>
            <a:ext cx="20446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 Agent 生命周期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228600" y="221456"/>
            <a:ext cx="2489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每个事件可挂载 Shell / Prompt 类型的 Hook —— 用作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2672097" y="221456"/>
            <a:ext cx="14796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回归测试 + 工程规范 + 变更沉淀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307181" y="581434"/>
            <a:ext cx="64389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7A1F1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session_start</a:t>
            </a:r>
            <a:endParaRPr lang="en-US" sz="619" dirty="0"/>
          </a:p>
        </p:txBody>
      </p:sp>
      <p:sp>
        <p:nvSpPr>
          <p:cNvPr id="9" name="Text 7"/>
          <p:cNvSpPr/>
          <p:nvPr/>
        </p:nvSpPr>
        <p:spPr>
          <a:xfrm>
            <a:off x="1098240" y="581434"/>
            <a:ext cx="78186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1E3A8A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pre_send_message</a:t>
            </a:r>
            <a:endParaRPr lang="en-US" sz="619" dirty="0"/>
          </a:p>
        </p:txBody>
      </p:sp>
      <p:sp>
        <p:nvSpPr>
          <p:cNvPr id="10" name="Text 8"/>
          <p:cNvSpPr/>
          <p:nvPr/>
        </p:nvSpPr>
        <p:spPr>
          <a:xfrm>
            <a:off x="2027262" y="581434"/>
            <a:ext cx="8278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1E3A8A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post_send_message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3002273" y="581434"/>
            <a:ext cx="73587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3B5BDB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pre_llm_request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3885307" y="581434"/>
            <a:ext cx="78186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3B5BDB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post_llm_request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4814329" y="581434"/>
            <a:ext cx="87383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1E5E3A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pre_tool_execution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5835328" y="581434"/>
            <a:ext cx="91993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1E5E3A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post_tool_execution</a:t>
            </a:r>
            <a:endParaRPr lang="en-US" sz="619" dirty="0"/>
          </a:p>
        </p:txBody>
      </p:sp>
      <p:sp>
        <p:nvSpPr>
          <p:cNvPr id="15" name="Text 13"/>
          <p:cNvSpPr/>
          <p:nvPr/>
        </p:nvSpPr>
        <p:spPr>
          <a:xfrm>
            <a:off x="6902425" y="581434"/>
            <a:ext cx="128795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1E5E3A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post_tool_execution_failure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307181" y="828563"/>
            <a:ext cx="8278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7A5B00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pre_micro_compact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1282192" y="828563"/>
            <a:ext cx="87383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7A5B00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post_micro_compact</a:t>
            </a: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2303190" y="828563"/>
            <a:ext cx="78186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7A5B00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pre_auto_compact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3232212" y="828563"/>
            <a:ext cx="82784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7A5B00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post_auto_compact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4207222" y="828563"/>
            <a:ext cx="22978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1E3A8A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4584167" y="828563"/>
            <a:ext cx="55181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7A1F1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session_end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321469" y="1111411"/>
            <a:ext cx="7235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生命周期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1192225" y="1111411"/>
            <a:ext cx="35558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消息收发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1694966" y="1111411"/>
            <a:ext cx="3847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调用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2226841" y="1111411"/>
            <a:ext cx="35558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工具执行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2729582" y="1111411"/>
            <a:ext cx="35558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压缩前后</a:t>
            </a:r>
            <a:endParaRPr lang="en-US" sz="619" dirty="0"/>
          </a:p>
        </p:txBody>
      </p:sp>
      <p:sp>
        <p:nvSpPr>
          <p:cNvPr id="27" name="Shape 25"/>
          <p:cNvSpPr/>
          <p:nvPr/>
        </p:nvSpPr>
        <p:spPr>
          <a:xfrm>
            <a:off x="228600" y="1229953"/>
            <a:ext cx="8686800" cy="947328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228600" y="1229953"/>
            <a:ext cx="2828925" cy="947328"/>
          </a:xfrm>
          <a:prstGeom prst="roundRect">
            <a:avLst>
              <a:gd name="adj" fmla="val 2970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8619" y="1358540"/>
            <a:ext cx="59612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工程规范强制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378619" y="1550640"/>
            <a:ext cx="246979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post_tool_execution(Write/Edit) 后扫描新增/变更文件：禁用 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21481" y="1701998"/>
            <a:ext cx="31662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8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mod.rs</a:t>
            </a:r>
            <a:endParaRPr lang="en-US" sz="608" dirty="0"/>
          </a:p>
        </p:txBody>
      </p:sp>
      <p:sp>
        <p:nvSpPr>
          <p:cNvPr id="32" name="Text 30"/>
          <p:cNvSpPr/>
          <p:nvPr/>
        </p:nvSpPr>
        <p:spPr>
          <a:xfrm>
            <a:off x="735248" y="1687711"/>
            <a:ext cx="3268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、禁用 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1059284" y="1701998"/>
            <a:ext cx="813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8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unwrap()/expect()</a:t>
            </a:r>
            <a:endParaRPr lang="en-US" sz="608" dirty="0"/>
          </a:p>
        </p:txBody>
      </p:sp>
      <p:sp>
        <p:nvSpPr>
          <p:cNvPr id="34" name="Text 32"/>
          <p:cNvSpPr/>
          <p:nvPr/>
        </p:nvSpPr>
        <p:spPr>
          <a:xfrm>
            <a:off x="1869765" y="1687711"/>
            <a:ext cx="3268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、要求 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378619" y="1701998"/>
            <a:ext cx="2267315" cy="23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8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name.rs + name/</a:t>
            </a:r>
            <a:endParaRPr lang="en-US" sz="608" dirty="0"/>
          </a:p>
        </p:txBody>
      </p:sp>
      <p:sp>
        <p:nvSpPr>
          <p:cNvPr id="36" name="Text 34"/>
          <p:cNvSpPr/>
          <p:nvPr/>
        </p:nvSpPr>
        <p:spPr>
          <a:xfrm>
            <a:off x="647291" y="1825340"/>
            <a:ext cx="3268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布局。</a:t>
            </a:r>
            <a:endParaRPr lang="en-US" sz="675" dirty="0"/>
          </a:p>
        </p:txBody>
      </p:sp>
      <p:sp>
        <p:nvSpPr>
          <p:cNvPr id="37" name="Shape 35"/>
          <p:cNvSpPr/>
          <p:nvPr/>
        </p:nvSpPr>
        <p:spPr>
          <a:xfrm>
            <a:off x="3157538" y="1229953"/>
            <a:ext cx="2828925" cy="947328"/>
          </a:xfrm>
          <a:prstGeom prst="roundRect">
            <a:avLst>
              <a:gd name="adj" fmla="val 2970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07556" y="1358540"/>
            <a:ext cx="59612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回归测试守门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3307556" y="1550640"/>
            <a:ext cx="88968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stop 事件触发时跑 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3307556" y="1564928"/>
            <a:ext cx="2332166" cy="23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8" dirty="0">
                <a:solidFill>
                  <a:srgbClr val="1E3A8A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 fmt &amp;&amp; cargo clippy -- -D warnings &amp;&amp; cargo test</a:t>
            </a:r>
            <a:endParaRPr lang="en-US" sz="608" dirty="0"/>
          </a:p>
        </p:txBody>
      </p:sp>
      <p:sp>
        <p:nvSpPr>
          <p:cNvPr id="41" name="Text 39"/>
          <p:cNvSpPr/>
          <p:nvPr/>
        </p:nvSpPr>
        <p:spPr>
          <a:xfrm>
            <a:off x="3307556" y="1688269"/>
            <a:ext cx="2520695" cy="25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。任何一项失败，Agent 必须修复才能真正"结束"。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6086475" y="1229953"/>
            <a:ext cx="2828925" cy="947328"/>
          </a:xfrm>
          <a:prstGeom prst="roundRect">
            <a:avLst>
              <a:gd name="adj" fmla="val 2970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494" y="1358540"/>
            <a:ext cx="59612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变更沉淀文档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6236494" y="1550640"/>
            <a:ext cx="12507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session_end 时把本次会话的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7441555" y="1550640"/>
            <a:ext cx="5532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关键变更摘要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6236494" y="1550640"/>
            <a:ext cx="2570366" cy="258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追加到 CHANGELOG / decision log，供后续追溯维护。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228600" y="4887776"/>
            <a:ext cx="91904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#hook #14-events</a:t>
            </a:r>
            <a:endParaRPr lang="en-US" sz="73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1666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系统：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635249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工程化能力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2696208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的按需封装</a:t>
            </a:r>
            <a:endParaRPr lang="en-US" sz="1688" dirty="0"/>
          </a:p>
        </p:txBody>
      </p:sp>
      <p:sp>
        <p:nvSpPr>
          <p:cNvPr id="6" name="Shape 4"/>
          <p:cNvSpPr/>
          <p:nvPr/>
        </p:nvSpPr>
        <p:spPr>
          <a:xfrm>
            <a:off x="228600" y="171450"/>
            <a:ext cx="8686800" cy="185425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" y="171450"/>
            <a:ext cx="4293394" cy="1854250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8619" y="307181"/>
            <a:ext cx="198279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jen — SQL → Go 代码生成</a:t>
            </a:r>
            <a:endParaRPr lang="en-US" sz="1238" dirty="0"/>
          </a:p>
        </p:txBody>
      </p:sp>
      <p:sp>
        <p:nvSpPr>
          <p:cNvPr id="9" name="Shape 7"/>
          <p:cNvSpPr/>
          <p:nvPr/>
        </p:nvSpPr>
        <p:spPr>
          <a:xfrm>
            <a:off x="378619" y="575742"/>
            <a:ext cx="3993356" cy="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378619" y="640035"/>
            <a:ext cx="36816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自研 SQL 语法解析器 + 模板引擎，自动生成 DAO 层和 Model 层代码。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8619" y="937171"/>
            <a:ext cx="13559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为什么不直接用 AI 生成？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8619" y="937171"/>
            <a:ext cx="395558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DAO/Model 代码高度模板化、体量大，AI 生成质量不稳定且耗时。工程化生成则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49673" y="1120006"/>
            <a:ext cx="185632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质量可控、速度快、不侵入业务逻辑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60279" y="1120006"/>
            <a:ext cx="1589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8619" y="1417141"/>
            <a:ext cx="109618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为什么封装为 Skill？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8619" y="1417141"/>
            <a:ext cx="399632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按需加载，非必要不占用上下文。只在遇到 SQL 相关场景时才激活。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2006" y="171450"/>
            <a:ext cx="4293394" cy="1854250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2025" y="307181"/>
            <a:ext cx="228483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webapp-gen — Web App 生成</a:t>
            </a:r>
            <a:endParaRPr lang="en-US" sz="1238" dirty="0"/>
          </a:p>
        </p:txBody>
      </p:sp>
      <p:sp>
        <p:nvSpPr>
          <p:cNvPr id="19" name="Shape 17"/>
          <p:cNvSpPr/>
          <p:nvPr/>
        </p:nvSpPr>
        <p:spPr>
          <a:xfrm>
            <a:off x="4772025" y="575742"/>
            <a:ext cx="3993356" cy="0"/>
          </a:xfrm>
          <a:prstGeom prst="rect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4772025" y="640035"/>
            <a:ext cx="162995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内含脚手架工具和完整工作流。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72025" y="937171"/>
            <a:ext cx="17431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核心策略：原型驱动，逐步填充。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72025" y="937171"/>
            <a:ext cx="4006371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先用脚手架搭出项目骨架和基础页面，再根据用户需求逐步替换和填充内容。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2025" y="1417141"/>
            <a:ext cx="3852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优势：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2025" y="1417141"/>
            <a:ext cx="3988512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保证项目结构完整性的同时，逐步逼近用户预期，减少"做完发现不对"的风险。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55672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jen：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025351" y="257175"/>
            <a:ext cx="23588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SQL → Go DAO/Model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3338475" y="257175"/>
            <a:ext cx="117588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工程化生成</a:t>
            </a:r>
            <a:endParaRPr lang="en-US" sz="1688" dirty="0"/>
          </a:p>
        </p:txBody>
      </p:sp>
      <p:sp>
        <p:nvSpPr>
          <p:cNvPr id="6" name="Shape 4"/>
          <p:cNvSpPr/>
          <p:nvPr/>
        </p:nvSpPr>
        <p:spPr>
          <a:xfrm>
            <a:off x="228600" y="171450"/>
            <a:ext cx="8686800" cy="117972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" y="171450"/>
            <a:ext cx="1883829" cy="1179723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31" y="271463"/>
            <a:ext cx="49577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输入 SQL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910717" y="429964"/>
            <a:ext cx="56531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 TABLE</a:t>
            </a:r>
            <a:endParaRPr lang="en-US" sz="563" dirty="0"/>
          </a:p>
        </p:txBody>
      </p:sp>
      <p:sp>
        <p:nvSpPr>
          <p:cNvPr id="10" name="Text 8"/>
          <p:cNvSpPr/>
          <p:nvPr/>
        </p:nvSpPr>
        <p:spPr>
          <a:xfrm>
            <a:off x="1029816" y="529977"/>
            <a:ext cx="32700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建表语句</a:t>
            </a:r>
            <a:endParaRPr lang="en-US" sz="563" dirty="0"/>
          </a:p>
        </p:txBody>
      </p:sp>
      <p:sp>
        <p:nvSpPr>
          <p:cNvPr id="11" name="Text 9"/>
          <p:cNvSpPr/>
          <p:nvPr/>
        </p:nvSpPr>
        <p:spPr>
          <a:xfrm>
            <a:off x="2155292" y="684126"/>
            <a:ext cx="11347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65908" y="171450"/>
            <a:ext cx="1883941" cy="1179723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8543" y="271463"/>
            <a:ext cx="4842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语法解析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024820" y="429964"/>
            <a:ext cx="41183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自研 parser</a:t>
            </a:r>
            <a:endParaRPr lang="en-US" sz="563" dirty="0"/>
          </a:p>
        </p:txBody>
      </p:sp>
      <p:sp>
        <p:nvSpPr>
          <p:cNvPr id="15" name="Text 13"/>
          <p:cNvSpPr/>
          <p:nvPr/>
        </p:nvSpPr>
        <p:spPr>
          <a:xfrm>
            <a:off x="2856384" y="529977"/>
            <a:ext cx="74871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提取表名、字段、索引</a:t>
            </a:r>
            <a:endParaRPr lang="en-US" sz="563" dirty="0"/>
          </a:p>
        </p:txBody>
      </p:sp>
      <p:sp>
        <p:nvSpPr>
          <p:cNvPr id="16" name="Text 14"/>
          <p:cNvSpPr/>
          <p:nvPr/>
        </p:nvSpPr>
        <p:spPr>
          <a:xfrm>
            <a:off x="4192712" y="684126"/>
            <a:ext cx="11347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03328" y="171450"/>
            <a:ext cx="1883941" cy="1179723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5963" y="271463"/>
            <a:ext cx="4842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模板渲染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965576" y="429964"/>
            <a:ext cx="60516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Go template</a:t>
            </a:r>
            <a:endParaRPr lang="en-US" sz="563" dirty="0"/>
          </a:p>
        </p:txBody>
      </p:sp>
      <p:sp>
        <p:nvSpPr>
          <p:cNvPr id="20" name="Text 18"/>
          <p:cNvSpPr/>
          <p:nvPr/>
        </p:nvSpPr>
        <p:spPr>
          <a:xfrm>
            <a:off x="5034335" y="529977"/>
            <a:ext cx="46753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填充关键变量</a:t>
            </a:r>
            <a:endParaRPr lang="en-US" sz="563" dirty="0"/>
          </a:p>
        </p:txBody>
      </p:sp>
      <p:sp>
        <p:nvSpPr>
          <p:cNvPr id="21" name="Text 19"/>
          <p:cNvSpPr/>
          <p:nvPr/>
        </p:nvSpPr>
        <p:spPr>
          <a:xfrm>
            <a:off x="6230131" y="684126"/>
            <a:ext cx="11347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40748" y="171450"/>
            <a:ext cx="2574652" cy="1179723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24241" y="271463"/>
            <a:ext cx="6533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输出原子方法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905997" y="472827"/>
            <a:ext cx="2704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</a:t>
            </a:r>
            <a:endParaRPr lang="en-US" sz="506" dirty="0"/>
          </a:p>
        </p:txBody>
      </p:sp>
      <p:sp>
        <p:nvSpPr>
          <p:cNvPr id="25" name="Text 23"/>
          <p:cNvSpPr/>
          <p:nvPr/>
        </p:nvSpPr>
        <p:spPr>
          <a:xfrm>
            <a:off x="8125458" y="472827"/>
            <a:ext cx="2704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506" dirty="0"/>
          </a:p>
        </p:txBody>
      </p:sp>
      <p:sp>
        <p:nvSpPr>
          <p:cNvPr id="26" name="Text 24"/>
          <p:cNvSpPr/>
          <p:nvPr/>
        </p:nvSpPr>
        <p:spPr>
          <a:xfrm>
            <a:off x="6905997" y="639924"/>
            <a:ext cx="2704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Delete</a:t>
            </a:r>
            <a:endParaRPr lang="en-US" sz="506" dirty="0"/>
          </a:p>
        </p:txBody>
      </p:sp>
      <p:sp>
        <p:nvSpPr>
          <p:cNvPr id="27" name="Text 25"/>
          <p:cNvSpPr/>
          <p:nvPr/>
        </p:nvSpPr>
        <p:spPr>
          <a:xfrm>
            <a:off x="8106705" y="639924"/>
            <a:ext cx="307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GetByPK</a:t>
            </a:r>
            <a:endParaRPr lang="en-US" sz="506" dirty="0"/>
          </a:p>
        </p:txBody>
      </p:sp>
      <p:sp>
        <p:nvSpPr>
          <p:cNvPr id="28" name="Text 26"/>
          <p:cNvSpPr/>
          <p:nvPr/>
        </p:nvSpPr>
        <p:spPr>
          <a:xfrm>
            <a:off x="6868604" y="807021"/>
            <a:ext cx="3451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GetByIdx</a:t>
            </a:r>
            <a:endParaRPr lang="en-US" sz="506" dirty="0"/>
          </a:p>
        </p:txBody>
      </p:sp>
      <p:sp>
        <p:nvSpPr>
          <p:cNvPr id="29" name="Text 27"/>
          <p:cNvSpPr/>
          <p:nvPr/>
        </p:nvSpPr>
        <p:spPr>
          <a:xfrm>
            <a:off x="8162851" y="807021"/>
            <a:ext cx="1955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endParaRPr lang="en-US" sz="506" dirty="0"/>
          </a:p>
        </p:txBody>
      </p:sp>
      <p:sp>
        <p:nvSpPr>
          <p:cNvPr id="30" name="Text 28"/>
          <p:cNvSpPr/>
          <p:nvPr/>
        </p:nvSpPr>
        <p:spPr>
          <a:xfrm>
            <a:off x="6849852" y="974117"/>
            <a:ext cx="38270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LikeQuery</a:t>
            </a:r>
            <a:endParaRPr lang="en-US" sz="506" dirty="0"/>
          </a:p>
        </p:txBody>
      </p:sp>
      <p:sp>
        <p:nvSpPr>
          <p:cNvPr id="31" name="Text 29"/>
          <p:cNvSpPr/>
          <p:nvPr/>
        </p:nvSpPr>
        <p:spPr>
          <a:xfrm>
            <a:off x="8050560" y="974117"/>
            <a:ext cx="4200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CustomCond</a:t>
            </a:r>
            <a:endParaRPr lang="en-US" sz="506" dirty="0"/>
          </a:p>
        </p:txBody>
      </p:sp>
      <p:sp>
        <p:nvSpPr>
          <p:cNvPr id="32" name="Text 30"/>
          <p:cNvSpPr/>
          <p:nvPr/>
        </p:nvSpPr>
        <p:spPr>
          <a:xfrm>
            <a:off x="6905997" y="1141214"/>
            <a:ext cx="2704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WithTx</a:t>
            </a:r>
            <a:endParaRPr lang="en-US" sz="506" dirty="0"/>
          </a:p>
        </p:txBody>
      </p:sp>
      <p:sp>
        <p:nvSpPr>
          <p:cNvPr id="33" name="Text 31"/>
          <p:cNvSpPr/>
          <p:nvPr/>
        </p:nvSpPr>
        <p:spPr>
          <a:xfrm>
            <a:off x="8031919" y="1141214"/>
            <a:ext cx="4574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6" dirty="0">
                <a:solidFill>
                  <a:srgbClr val="2C3E50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BatchInsert</a:t>
            </a:r>
            <a:endParaRPr lang="en-US" sz="506" dirty="0"/>
          </a:p>
        </p:txBody>
      </p:sp>
      <p:sp>
        <p:nvSpPr>
          <p:cNvPr id="34" name="Shape 32"/>
          <p:cNvSpPr/>
          <p:nvPr/>
        </p:nvSpPr>
        <p:spPr>
          <a:xfrm>
            <a:off x="228600" y="1351173"/>
            <a:ext cx="8686800" cy="809141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228600" y="1351173"/>
            <a:ext cx="4293394" cy="809141"/>
          </a:xfrm>
          <a:prstGeom prst="roundRect">
            <a:avLst>
              <a:gd name="adj" fmla="val 3477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8619" y="1479761"/>
            <a:ext cx="122879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1E5E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√ 为什么不让 AI 直接生成？</a:t>
            </a:r>
            <a:endParaRPr lang="en-US" sz="731" dirty="0"/>
          </a:p>
        </p:txBody>
      </p:sp>
      <p:sp>
        <p:nvSpPr>
          <p:cNvPr id="37" name="Text 35"/>
          <p:cNvSpPr/>
          <p:nvPr/>
        </p:nvSpPr>
        <p:spPr>
          <a:xfrm>
            <a:off x="378619" y="1671861"/>
            <a:ext cx="70127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DAO/Model 代码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1034169" y="1671861"/>
            <a:ext cx="114529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模板化、体量大、不侵入业务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378619" y="1671861"/>
            <a:ext cx="3932590" cy="258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。AI 生成质量不稳定、耗时长、易出现字段名拼写错误、SQL 注入风险。工程化生成则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1503425" y="1808931"/>
            <a:ext cx="114529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质量可控、速度快、格式统一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2603004" y="1808931"/>
            <a:ext cx="13032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4622006" y="1351173"/>
            <a:ext cx="4293394" cy="809141"/>
          </a:xfrm>
          <a:prstGeom prst="roundRect">
            <a:avLst>
              <a:gd name="adj" fmla="val 3477"/>
            </a:avLst>
          </a:prstGeom>
          <a:solidFill>
            <a:srgbClr val="F3F5F9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2025" y="1479761"/>
            <a:ext cx="101794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√ 为什么封装为 Skill？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4772025" y="1671861"/>
            <a:ext cx="35725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jen 只在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5083559" y="1671861"/>
            <a:ext cx="77762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遇到 SQL 相关任务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5815459" y="1671861"/>
            <a:ext cx="27520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时才被需要。如果常驻 system prompt 会浪费上下文。封装为 Skill 实现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4772025" y="1671861"/>
            <a:ext cx="3964737" cy="258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渐进式加载、按需激活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5448784" y="1808931"/>
            <a:ext cx="202677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——Agent 看到 SQL 才调 LoadSkill 拉入完整指令。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228600" y="4887776"/>
            <a:ext cx="157392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#jen #code-gen #model_infrax</a:t>
            </a:r>
            <a:endParaRPr lang="en-US" sz="73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538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webapp-gen：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2007505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原型驱动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2856272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逐步填充</a:t>
            </a:r>
            <a:endParaRPr lang="en-US" sz="1688" dirty="0"/>
          </a:p>
        </p:txBody>
      </p:sp>
      <p:sp>
        <p:nvSpPr>
          <p:cNvPr id="6" name="Shape 4"/>
          <p:cNvSpPr/>
          <p:nvPr/>
        </p:nvSpPr>
        <p:spPr>
          <a:xfrm>
            <a:off x="228600" y="171450"/>
            <a:ext cx="8686800" cy="1311771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28600" y="171450"/>
            <a:ext cx="4293394" cy="1311771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28600" y="164306"/>
            <a:ext cx="8510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7A1F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反例 · 一次性生成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228600" y="387102"/>
            <a:ext cx="4293394" cy="1096119"/>
          </a:xfrm>
          <a:prstGeom prst="roundRect">
            <a:avLst>
              <a:gd name="adj" fmla="val 2567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044" y="529977"/>
            <a:ext cx="2466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5E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用户: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608112" y="529977"/>
            <a:ext cx="78878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帮我做一个待办应用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350044" y="706338"/>
            <a:ext cx="32175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Agent: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683233" y="706338"/>
            <a:ext cx="98735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一次性生成 50 个文件……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350044" y="882700"/>
            <a:ext cx="37009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分钟后</a:t>
            </a:r>
            <a:endParaRPr lang="en-US" sz="619" dirty="0"/>
          </a:p>
        </p:txBody>
      </p:sp>
      <p:sp>
        <p:nvSpPr>
          <p:cNvPr id="15" name="Text 13"/>
          <p:cNvSpPr/>
          <p:nvPr/>
        </p:nvSpPr>
        <p:spPr>
          <a:xfrm>
            <a:off x="350044" y="1059061"/>
            <a:ext cx="203547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7A1F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路由配置漏了 / CSS 引用错路径 / 组件 import 循环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350044" y="1235422"/>
            <a:ext cx="2466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1E5E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用户: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608112" y="1235422"/>
            <a:ext cx="78878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整个项目跑不起来。</a:t>
            </a:r>
            <a:endParaRPr lang="en-US" sz="619" dirty="0"/>
          </a:p>
        </p:txBody>
      </p:sp>
      <p:sp>
        <p:nvSpPr>
          <p:cNvPr id="18" name="Shape 16"/>
          <p:cNvSpPr/>
          <p:nvPr/>
        </p:nvSpPr>
        <p:spPr>
          <a:xfrm>
            <a:off x="4622006" y="171450"/>
            <a:ext cx="4293394" cy="1311771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4622006" y="164306"/>
            <a:ext cx="1289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E5E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√ 原型驱动：脚手架 + 填充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4622006" y="387102"/>
            <a:ext cx="4293394" cy="551408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622006" y="387102"/>
            <a:ext cx="1328738" cy="551408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588" y="487114"/>
            <a:ext cx="41150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脚手架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700588" y="645616"/>
            <a:ext cx="11705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用成熟模板搭出可跑的最小项目（含路由、状态、样式系统）</a:t>
            </a:r>
            <a:endParaRPr lang="en-US" sz="563" dirty="0"/>
          </a:p>
        </p:txBody>
      </p:sp>
      <p:sp>
        <p:nvSpPr>
          <p:cNvPr id="24" name="Text 22"/>
          <p:cNvSpPr/>
          <p:nvPr/>
        </p:nvSpPr>
        <p:spPr>
          <a:xfrm>
            <a:off x="5993606" y="585676"/>
            <a:ext cx="11347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04223" y="387102"/>
            <a:ext cx="1328849" cy="551408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2804" y="487114"/>
            <a:ext cx="4961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原型替换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182804" y="645616"/>
            <a:ext cx="75842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逐页用 mock 数据填充</a:t>
            </a:r>
            <a:endParaRPr lang="en-US" sz="563" dirty="0"/>
          </a:p>
        </p:txBody>
      </p:sp>
      <p:sp>
        <p:nvSpPr>
          <p:cNvPr id="28" name="Text 26"/>
          <p:cNvSpPr/>
          <p:nvPr/>
        </p:nvSpPr>
        <p:spPr>
          <a:xfrm>
            <a:off x="6182804" y="745629"/>
            <a:ext cx="60817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用户先看视觉效果</a:t>
            </a:r>
            <a:endParaRPr lang="en-US" sz="563" dirty="0"/>
          </a:p>
        </p:txBody>
      </p:sp>
      <p:sp>
        <p:nvSpPr>
          <p:cNvPr id="29" name="Text 27"/>
          <p:cNvSpPr/>
          <p:nvPr/>
        </p:nvSpPr>
        <p:spPr>
          <a:xfrm>
            <a:off x="7475934" y="585676"/>
            <a:ext cx="11347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6551" y="387102"/>
            <a:ext cx="1328849" cy="551408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5132" y="487114"/>
            <a:ext cx="66521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接入真实数据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7665132" y="645616"/>
            <a:ext cx="72404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mock 替换为真实 API</a:t>
            </a:r>
            <a:endParaRPr lang="en-US" sz="563" dirty="0"/>
          </a:p>
        </p:txBody>
      </p:sp>
      <p:sp>
        <p:nvSpPr>
          <p:cNvPr id="33" name="Text 31"/>
          <p:cNvSpPr/>
          <p:nvPr/>
        </p:nvSpPr>
        <p:spPr>
          <a:xfrm>
            <a:off x="7665132" y="745629"/>
            <a:ext cx="60817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逐步加入业务逻辑</a:t>
            </a:r>
            <a:endParaRPr lang="en-US" sz="563" dirty="0"/>
          </a:p>
        </p:txBody>
      </p:sp>
      <p:sp>
        <p:nvSpPr>
          <p:cNvPr id="34" name="Text 32"/>
          <p:cNvSpPr/>
          <p:nvPr/>
        </p:nvSpPr>
        <p:spPr>
          <a:xfrm>
            <a:off x="2377753" y="1633240"/>
            <a:ext cx="50437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核心优势：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2836404" y="1633240"/>
            <a:ext cx="2292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3019909" y="1633240"/>
            <a:ext cx="50437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结构完整性</a:t>
            </a:r>
            <a:endParaRPr lang="en-US" sz="731" dirty="0"/>
          </a:p>
        </p:txBody>
      </p:sp>
      <p:sp>
        <p:nvSpPr>
          <p:cNvPr id="37" name="Text 35"/>
          <p:cNvSpPr/>
          <p:nvPr/>
        </p:nvSpPr>
        <p:spPr>
          <a:xfrm>
            <a:off x="3478560" y="1633240"/>
            <a:ext cx="123816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有脚手架保证；用户预期通过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4671008" y="1633240"/>
            <a:ext cx="68787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逐步可见的原型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5313164" y="1633240"/>
            <a:ext cx="149869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校准，减少"做完发现不对"的反工。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228600" y="4887776"/>
            <a:ext cx="162850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#webapp-gen #prototype-driven</a:t>
            </a:r>
            <a:endParaRPr lang="en-US" sz="73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11066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项目仓库与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575308" y="257175"/>
            <a:ext cx="894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交付制品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1042764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2828925" cy="1042764"/>
          </a:xfrm>
          <a:prstGeom prst="roundRect">
            <a:avLst>
              <a:gd name="adj" fmla="val 2698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0050" y="964183"/>
            <a:ext cx="629833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Rust · 24K LOC</a:t>
            </a:r>
            <a:endParaRPr lang="en-US" sz="563" dirty="0"/>
          </a:p>
        </p:txBody>
      </p:sp>
      <p:sp>
        <p:nvSpPr>
          <p:cNvPr id="8" name="Shape 6"/>
          <p:cNvSpPr/>
          <p:nvPr/>
        </p:nvSpPr>
        <p:spPr>
          <a:xfrm>
            <a:off x="350044" y="300038"/>
            <a:ext cx="2586038" cy="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350044" y="307181"/>
            <a:ext cx="11959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github.com/LingoJack/jcli</a:t>
            </a:r>
            <a:endParaRPr lang="en-US" sz="619" dirty="0"/>
          </a:p>
        </p:txBody>
      </p:sp>
      <p:sp>
        <p:nvSpPr>
          <p:cNvPr id="10" name="Text 8"/>
          <p:cNvSpPr/>
          <p:nvPr/>
        </p:nvSpPr>
        <p:spPr>
          <a:xfrm>
            <a:off x="350044" y="447154"/>
            <a:ext cx="6302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j-cli (主项目)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350044" y="612800"/>
            <a:ext cx="2369001" cy="25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Rust 实现的 LLM Agent 命令行工具。chat 模块、tool 体系、Skill/Hook 系统、多 Agent 协作。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3157538" y="171450"/>
            <a:ext cx="2828925" cy="1042764"/>
          </a:xfrm>
          <a:prstGeom prst="roundRect">
            <a:avLst>
              <a:gd name="adj" fmla="val 2698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988" y="964183"/>
            <a:ext cx="671579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 · SQL parser</a:t>
            </a:r>
            <a:endParaRPr lang="en-US" sz="563" dirty="0"/>
          </a:p>
        </p:txBody>
      </p:sp>
      <p:sp>
        <p:nvSpPr>
          <p:cNvPr id="14" name="Shape 12"/>
          <p:cNvSpPr/>
          <p:nvPr/>
        </p:nvSpPr>
        <p:spPr>
          <a:xfrm>
            <a:off x="3278981" y="300038"/>
            <a:ext cx="2586038" cy="0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3278981" y="307181"/>
            <a:ext cx="156399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github.com/LingoJack/model_infrax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3278981" y="447154"/>
            <a:ext cx="6767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jen (代码生成)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3278981" y="612800"/>
            <a:ext cx="2457405" cy="25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SQL parser + 模板引擎，自动生成 DAO/Model 层代码。封装为 gen-struct-and-dao-code-from-sql skill。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6086475" y="171450"/>
            <a:ext cx="2828925" cy="1042764"/>
          </a:xfrm>
          <a:prstGeom prst="roundRect">
            <a:avLst>
              <a:gd name="adj" fmla="val 2698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7925" y="964183"/>
            <a:ext cx="478363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3" dirty="0">
                <a:solidFill>
                  <a:srgbClr val="6B7A8F"/>
                </a:solidFill>
                <a:highlight>
                  <a:srgbClr val="F3F5F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· 制品</a:t>
            </a:r>
            <a:endParaRPr lang="en-US" sz="563" dirty="0"/>
          </a:p>
        </p:txBody>
      </p:sp>
      <p:sp>
        <p:nvSpPr>
          <p:cNvPr id="20" name="Shape 18"/>
          <p:cNvSpPr/>
          <p:nvPr/>
        </p:nvSpPr>
        <p:spPr>
          <a:xfrm>
            <a:off x="6207919" y="300038"/>
            <a:ext cx="2586038" cy="0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6207919" y="307181"/>
            <a:ext cx="211606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github.com/LingoJack/gradiation_artifact_demo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6207919" y="447154"/>
            <a:ext cx="6389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毕设交付制品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6207919" y="612800"/>
            <a:ext cx="2450485" cy="25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 j-cli 配合 webapp-gen / jen skill 实际生成的 Web App 示例 —— 端到端验证整套工具链。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478225" y="1364233"/>
            <a:ext cx="59612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所有代码开源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4028629" y="1364233"/>
            <a:ext cx="1682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，欢迎 Star / Issue / PR · MIT License</a:t>
            </a:r>
            <a:endParaRPr lang="en-US" sz="731" dirty="0"/>
          </a:p>
        </p:txBody>
      </p:sp>
      <p:sp>
        <p:nvSpPr>
          <p:cNvPr id="26" name="Text 24"/>
          <p:cNvSpPr/>
          <p:nvPr/>
        </p:nvSpPr>
        <p:spPr>
          <a:xfrm>
            <a:off x="228600" y="4887776"/>
            <a:ext cx="113737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github.com/LingoJack</a:t>
            </a:r>
            <a:endParaRPr lang="en-US" sz="73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7175"/>
            <a:ext cx="8115300" cy="3714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57175"/>
            <a:ext cx="68229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总结：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1150925" y="257175"/>
            <a:ext cx="13187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三个核心贡献</a:t>
            </a:r>
            <a:endParaRPr lang="en-US" sz="1688" dirty="0"/>
          </a:p>
        </p:txBody>
      </p:sp>
      <p:sp>
        <p:nvSpPr>
          <p:cNvPr id="5" name="Shape 3"/>
          <p:cNvSpPr/>
          <p:nvPr/>
        </p:nvSpPr>
        <p:spPr>
          <a:xfrm>
            <a:off x="228600" y="171450"/>
            <a:ext cx="8686800" cy="1385664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171450"/>
            <a:ext cx="2828925" cy="13856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8619" y="307181"/>
            <a:ext cx="113793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上下文窗口治理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378619" y="582885"/>
            <a:ext cx="2505068" cy="522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分级消息窗口 + 多级压缩（micro/auto）+ 动态 System Prompt 追加。让 Agent 能在有限窗口内长期稳定运行，大幅降低幻觉和重复操作。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7538" y="171450"/>
            <a:ext cx="2828925" cy="13856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7556" y="307181"/>
            <a:ext cx="113793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渐进式工具体系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3307556" y="582885"/>
            <a:ext cx="2523262" cy="705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4 个基础工具到 20+ 工具，每个工具都有明确的问题驱动动机。Plan 清空上下文、Grep 构建上下文、Ask 防漂移、Session 处理交互——形成完整闭环。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6475" y="171450"/>
            <a:ext cx="2828925" cy="13856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494" y="307181"/>
            <a:ext cx="104919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Agent 协作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6236494" y="582885"/>
            <a:ext cx="2472363" cy="522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Teammate/SubAgent 协作 + Two-Staged Commit 消息一致性 + 交叉评审客观评估 + 指数退避健壮性。Agent 团队能长期高效协作。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4887776"/>
            <a:ext cx="141017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github.com/LingoJack/jcli</a:t>
            </a:r>
            <a:endParaRPr lang="en-US" sz="73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411600" y="1342467"/>
            <a:ext cx="36640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thanks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3548435" y="1446721"/>
            <a:ext cx="209285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0D1B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谢谢聆听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3839989" y="1986744"/>
            <a:ext cx="150963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&amp; A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724769" y="2933960"/>
            <a:ext cx="13030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E3A8A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github.com/LingoJack/jcli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239244" y="2933960"/>
            <a:ext cx="1705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github.com/LingoJack/model_infrax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156113" y="2933960"/>
            <a:ext cx="23088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C3E50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github.com/LingoJack/gradiation_artifact_demo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016895" y="3256769"/>
            <a:ext cx="315593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的本质：通过上下文治理和工具调用，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3207655" y="3500326"/>
            <a:ext cx="27744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AI 成为物理世界与逻辑世界的桥梁。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228600" y="4887776"/>
            <a:ext cx="70305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温俊杰 · 2025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黑体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2026-05-12T07:51:13Z</dcterms:created>
  <dcterms:modified xsi:type="dcterms:W3CDTF">2026-05-12T07:51:13Z</dcterms:modified>
</cp:coreProperties>
</file>